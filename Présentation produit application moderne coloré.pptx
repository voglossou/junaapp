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Medium" charset="1" panose="000006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0.jpe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0.jpeg" Type="http://schemas.openxmlformats.org/officeDocument/2006/relationships/image"/><Relationship Id="rId6" Target="../media/image5.jpe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jpeg" Type="http://schemas.openxmlformats.org/officeDocument/2006/relationships/image"/><Relationship Id="rId5" Target="../media/image3.jpe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0.jpe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3.jpe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7.jpe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4230" y="3634253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068718" y="4101090"/>
            <a:ext cx="2776274" cy="2776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253731" y="7252119"/>
            <a:ext cx="2776274" cy="27762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-10850" t="0" r="-39149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788262" y="4442718"/>
            <a:ext cx="4711475" cy="9322463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22234" t="0" r="-22234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492661" y="7068907"/>
            <a:ext cx="2776274" cy="277627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7"/>
              <a:stretch>
                <a:fillRect l="-24955" t="-33468" r="-75247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865683" y="5489227"/>
            <a:ext cx="3552372" cy="799492"/>
            <a:chOff x="0" y="0"/>
            <a:chExt cx="1805752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5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805752">
                  <a:moveTo>
                    <a:pt x="1602552" y="0"/>
                  </a:moveTo>
                  <a:cubicBezTo>
                    <a:pt x="1714776" y="0"/>
                    <a:pt x="1805752" y="90976"/>
                    <a:pt x="1805752" y="203200"/>
                  </a:cubicBezTo>
                  <a:cubicBezTo>
                    <a:pt x="1805752" y="315424"/>
                    <a:pt x="1714776" y="406400"/>
                    <a:pt x="1602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05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06138" y="7816927"/>
            <a:ext cx="3996260" cy="1646657"/>
            <a:chOff x="0" y="0"/>
            <a:chExt cx="1169971" cy="48208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69971" cy="482086"/>
            </a:xfrm>
            <a:custGeom>
              <a:avLst/>
              <a:gdLst/>
              <a:ahLst/>
              <a:cxnLst/>
              <a:rect r="r" b="b" t="t" l="l"/>
              <a:pathLst>
                <a:path h="482086" w="1169971">
                  <a:moveTo>
                    <a:pt x="44558" y="0"/>
                  </a:moveTo>
                  <a:lnTo>
                    <a:pt x="1125414" y="0"/>
                  </a:lnTo>
                  <a:cubicBezTo>
                    <a:pt x="1137231" y="0"/>
                    <a:pt x="1148564" y="4694"/>
                    <a:pt x="1156921" y="13051"/>
                  </a:cubicBezTo>
                  <a:cubicBezTo>
                    <a:pt x="1165277" y="21407"/>
                    <a:pt x="1169971" y="32740"/>
                    <a:pt x="1169971" y="44558"/>
                  </a:cubicBezTo>
                  <a:lnTo>
                    <a:pt x="1169971" y="437528"/>
                  </a:lnTo>
                  <a:cubicBezTo>
                    <a:pt x="1169971" y="449346"/>
                    <a:pt x="1165277" y="460679"/>
                    <a:pt x="1156921" y="469035"/>
                  </a:cubicBezTo>
                  <a:cubicBezTo>
                    <a:pt x="1148564" y="477391"/>
                    <a:pt x="1137231" y="482086"/>
                    <a:pt x="1125414" y="482086"/>
                  </a:cubicBezTo>
                  <a:lnTo>
                    <a:pt x="44558" y="482086"/>
                  </a:lnTo>
                  <a:cubicBezTo>
                    <a:pt x="32740" y="482086"/>
                    <a:pt x="21407" y="477391"/>
                    <a:pt x="13051" y="469035"/>
                  </a:cubicBezTo>
                  <a:cubicBezTo>
                    <a:pt x="4694" y="460679"/>
                    <a:pt x="0" y="449346"/>
                    <a:pt x="0" y="437528"/>
                  </a:cubicBezTo>
                  <a:lnTo>
                    <a:pt x="0" y="44558"/>
                  </a:lnTo>
                  <a:cubicBezTo>
                    <a:pt x="0" y="32740"/>
                    <a:pt x="4694" y="21407"/>
                    <a:pt x="13051" y="13051"/>
                  </a:cubicBezTo>
                  <a:cubicBezTo>
                    <a:pt x="21407" y="4694"/>
                    <a:pt x="32740" y="0"/>
                    <a:pt x="44558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709" y="4292633"/>
            <a:ext cx="2776274" cy="2776274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8"/>
              <a:stretch>
                <a:fillRect l="-25046" t="0" r="-25046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822300" y="3947387"/>
            <a:ext cx="1256120" cy="1256120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2574" y="0"/>
                  </a:moveTo>
                  <a:lnTo>
                    <a:pt x="640226" y="0"/>
                  </a:lnTo>
                  <a:cubicBezTo>
                    <a:pt x="735536" y="0"/>
                    <a:pt x="812800" y="77264"/>
                    <a:pt x="812800" y="172574"/>
                  </a:cubicBezTo>
                  <a:lnTo>
                    <a:pt x="812800" y="640226"/>
                  </a:lnTo>
                  <a:cubicBezTo>
                    <a:pt x="812800" y="735536"/>
                    <a:pt x="735536" y="812800"/>
                    <a:pt x="640226" y="812800"/>
                  </a:cubicBezTo>
                  <a:lnTo>
                    <a:pt x="172574" y="812800"/>
                  </a:lnTo>
                  <a:cubicBezTo>
                    <a:pt x="77264" y="812800"/>
                    <a:pt x="0" y="735536"/>
                    <a:pt x="0" y="640226"/>
                  </a:cubicBezTo>
                  <a:lnTo>
                    <a:pt x="0" y="172574"/>
                  </a:lnTo>
                  <a:cubicBezTo>
                    <a:pt x="0" y="77264"/>
                    <a:pt x="77264" y="0"/>
                    <a:pt x="172574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502264" y="5710587"/>
            <a:ext cx="2279209" cy="356771"/>
            <a:chOff x="0" y="0"/>
            <a:chExt cx="3038946" cy="475695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9090" cy="475695"/>
              <a:chOff x="0" y="0"/>
              <a:chExt cx="812800" cy="7747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624924" y="0"/>
              <a:ext cx="499090" cy="475695"/>
              <a:chOff x="0" y="0"/>
              <a:chExt cx="812800" cy="7747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288842" y="0"/>
              <a:ext cx="499090" cy="475695"/>
              <a:chOff x="0" y="0"/>
              <a:chExt cx="812800" cy="7747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913766" y="0"/>
              <a:ext cx="499090" cy="475695"/>
              <a:chOff x="0" y="0"/>
              <a:chExt cx="812800" cy="7747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39856" y="0"/>
              <a:ext cx="499090" cy="475695"/>
              <a:chOff x="0" y="0"/>
              <a:chExt cx="812800" cy="7747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45" id="45"/>
          <p:cNvSpPr/>
          <p:nvPr/>
        </p:nvSpPr>
        <p:spPr>
          <a:xfrm flipH="false" flipV="false" rot="0">
            <a:off x="2970659" y="4095746"/>
            <a:ext cx="959403" cy="959403"/>
          </a:xfrm>
          <a:custGeom>
            <a:avLst/>
            <a:gdLst/>
            <a:ahLst/>
            <a:cxnLst/>
            <a:rect r="r" b="b" t="t" l="l"/>
            <a:pathLst>
              <a:path h="959403" w="959403">
                <a:moveTo>
                  <a:pt x="0" y="0"/>
                </a:moveTo>
                <a:lnTo>
                  <a:pt x="959403" y="0"/>
                </a:lnTo>
                <a:lnTo>
                  <a:pt x="959403" y="959403"/>
                </a:lnTo>
                <a:lnTo>
                  <a:pt x="0" y="9594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795339" y="1592122"/>
            <a:ext cx="10697322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L’in</a:t>
            </a:r>
            <a:r>
              <a:rPr lang="en-US" b="true" sz="471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telligence artificielle au service de l’organisation moderne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28700" y="554947"/>
            <a:ext cx="304972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270986" y="8641744"/>
            <a:ext cx="3189394" cy="6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347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2030 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324578" y="8573323"/>
            <a:ext cx="3385466" cy="5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Votre assistant numérique in</a:t>
            </a: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telligent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24578" y="8127793"/>
            <a:ext cx="3372423" cy="4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echnoDynamik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939948"/>
            <a:ext cx="4787601" cy="799492"/>
            <a:chOff x="0" y="0"/>
            <a:chExt cx="2433647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433647">
                  <a:moveTo>
                    <a:pt x="2230447" y="0"/>
                  </a:moveTo>
                  <a:cubicBezTo>
                    <a:pt x="2342671" y="0"/>
                    <a:pt x="2433647" y="90976"/>
                    <a:pt x="2433647" y="203200"/>
                  </a:cubicBezTo>
                  <a:cubicBezTo>
                    <a:pt x="2433647" y="315424"/>
                    <a:pt x="2342671" y="406400"/>
                    <a:pt x="2230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33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35102" y="3141124"/>
            <a:ext cx="2217178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propos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77962" y="3131599"/>
            <a:ext cx="825560" cy="4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4422959"/>
            <a:ext cx="4787601" cy="799492"/>
            <a:chOff x="0" y="0"/>
            <a:chExt cx="2433647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3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433647">
                  <a:moveTo>
                    <a:pt x="2230447" y="0"/>
                  </a:moveTo>
                  <a:cubicBezTo>
                    <a:pt x="2342671" y="0"/>
                    <a:pt x="2433647" y="90976"/>
                    <a:pt x="2433647" y="203200"/>
                  </a:cubicBezTo>
                  <a:cubicBezTo>
                    <a:pt x="2433647" y="315424"/>
                    <a:pt x="2342671" y="406400"/>
                    <a:pt x="2230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33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35102" y="4624135"/>
            <a:ext cx="2759394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7962" y="4614610"/>
            <a:ext cx="825560" cy="4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905970"/>
            <a:ext cx="4787601" cy="799492"/>
            <a:chOff x="0" y="0"/>
            <a:chExt cx="2433647" cy="406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3647" cy="406400"/>
            </a:xfrm>
            <a:custGeom>
              <a:avLst/>
              <a:gdLst/>
              <a:ahLst/>
              <a:cxnLst/>
              <a:rect r="r" b="b" t="t" l="l"/>
              <a:pathLst>
                <a:path h="406400" w="2433647">
                  <a:moveTo>
                    <a:pt x="2230447" y="0"/>
                  </a:moveTo>
                  <a:cubicBezTo>
                    <a:pt x="2342671" y="0"/>
                    <a:pt x="2433647" y="90976"/>
                    <a:pt x="2433647" y="203200"/>
                  </a:cubicBezTo>
                  <a:cubicBezTo>
                    <a:pt x="2433647" y="315424"/>
                    <a:pt x="2342671" y="406400"/>
                    <a:pt x="223044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33647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35102" y="6107146"/>
            <a:ext cx="2217178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Nos offres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577962" y="6097621"/>
            <a:ext cx="825560" cy="451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94"/>
              </a:lnSpc>
            </a:pPr>
            <a:r>
              <a:rPr lang="en-US" sz="302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08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822543" y="1232044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1" y="0"/>
                </a:lnTo>
                <a:lnTo>
                  <a:pt x="12499541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381125"/>
            <a:ext cx="9341781" cy="73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Sommaire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909588" y="2046431"/>
            <a:ext cx="2776274" cy="27762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50065" y="3773149"/>
            <a:ext cx="2776274" cy="27762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863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69222" y="7870163"/>
            <a:ext cx="2776274" cy="277627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6"/>
              <a:stretch>
                <a:fillRect l="-25000" t="0" r="-2500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357216" y="5281024"/>
            <a:ext cx="3552372" cy="799492"/>
            <a:chOff x="0" y="0"/>
            <a:chExt cx="4736495" cy="106598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736495" cy="1065989"/>
              <a:chOff x="0" y="0"/>
              <a:chExt cx="1805752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057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52">
                    <a:moveTo>
                      <a:pt x="1602552" y="0"/>
                    </a:moveTo>
                    <a:cubicBezTo>
                      <a:pt x="1714776" y="0"/>
                      <a:pt x="1805752" y="90976"/>
                      <a:pt x="1805752" y="203200"/>
                    </a:cubicBezTo>
                    <a:cubicBezTo>
                      <a:pt x="1805752" y="315424"/>
                      <a:pt x="1714776" y="406400"/>
                      <a:pt x="16025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E85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80575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48775" y="295147"/>
              <a:ext cx="499090" cy="475695"/>
              <a:chOff x="0" y="0"/>
              <a:chExt cx="812800" cy="7747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73698" y="295147"/>
              <a:ext cx="499090" cy="475695"/>
              <a:chOff x="0" y="0"/>
              <a:chExt cx="812800" cy="7747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137617" y="295147"/>
              <a:ext cx="499090" cy="475695"/>
              <a:chOff x="0" y="0"/>
              <a:chExt cx="812800" cy="774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762541" y="295147"/>
              <a:ext cx="499090" cy="475695"/>
              <a:chOff x="0" y="0"/>
              <a:chExt cx="812800" cy="7747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3388631" y="295147"/>
              <a:ext cx="499090" cy="475695"/>
              <a:chOff x="0" y="0"/>
              <a:chExt cx="812800" cy="774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grpSp>
        <p:nvGrpSpPr>
          <p:cNvPr name="Group 44" id="44"/>
          <p:cNvGrpSpPr/>
          <p:nvPr/>
        </p:nvGrpSpPr>
        <p:grpSpPr>
          <a:xfrm rot="0">
            <a:off x="14263526" y="7061375"/>
            <a:ext cx="1617576" cy="1617576"/>
            <a:chOff x="0" y="0"/>
            <a:chExt cx="2156768" cy="2156768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2156768" cy="2156768"/>
              <a:chOff x="0" y="0"/>
              <a:chExt cx="812800" cy="8128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134012" y="0"/>
                    </a:moveTo>
                    <a:lnTo>
                      <a:pt x="678789" y="0"/>
                    </a:lnTo>
                    <a:cubicBezTo>
                      <a:pt x="752801" y="0"/>
                      <a:pt x="812800" y="59999"/>
                      <a:pt x="812800" y="134012"/>
                    </a:cubicBezTo>
                    <a:lnTo>
                      <a:pt x="812800" y="678789"/>
                    </a:lnTo>
                    <a:cubicBezTo>
                      <a:pt x="812800" y="752801"/>
                      <a:pt x="752801" y="812800"/>
                      <a:pt x="678789" y="812800"/>
                    </a:cubicBezTo>
                    <a:lnTo>
                      <a:pt x="134012" y="812800"/>
                    </a:lnTo>
                    <a:cubicBezTo>
                      <a:pt x="59999" y="812800"/>
                      <a:pt x="0" y="752801"/>
                      <a:pt x="0" y="678789"/>
                    </a:cubicBezTo>
                    <a:lnTo>
                      <a:pt x="0" y="134012"/>
                    </a:lnTo>
                    <a:cubicBezTo>
                      <a:pt x="0" y="59999"/>
                      <a:pt x="59999" y="0"/>
                      <a:pt x="134012" y="0"/>
                    </a:cubicBezTo>
                    <a:close/>
                  </a:path>
                </a:pathLst>
              </a:custGeom>
              <a:solidFill>
                <a:srgbClr val="79BFFF"/>
              </a:solid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8" id="48"/>
            <p:cNvSpPr/>
            <p:nvPr/>
          </p:nvSpPr>
          <p:spPr>
            <a:xfrm flipH="false" flipV="false" rot="0">
              <a:off x="353433" y="353433"/>
              <a:ext cx="1449901" cy="1449901"/>
            </a:xfrm>
            <a:custGeom>
              <a:avLst/>
              <a:gdLst/>
              <a:ahLst/>
              <a:cxnLst/>
              <a:rect r="r" b="b" t="t" l="l"/>
              <a:pathLst>
                <a:path h="1449901" w="1449901">
                  <a:moveTo>
                    <a:pt x="0" y="0"/>
                  </a:moveTo>
                  <a:lnTo>
                    <a:pt x="1449902" y="0"/>
                  </a:lnTo>
                  <a:lnTo>
                    <a:pt x="1449902" y="1449902"/>
                  </a:lnTo>
                  <a:lnTo>
                    <a:pt x="0" y="1449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028700" y="554947"/>
            <a:ext cx="3014393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38263" y="1400175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1" y="0"/>
                </a:lnTo>
                <a:lnTo>
                  <a:pt x="12499541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924478" y="1745902"/>
            <a:ext cx="2776274" cy="2776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150179" y="3093337"/>
            <a:ext cx="4711475" cy="9322463"/>
            <a:chOff x="0" y="0"/>
            <a:chExt cx="2620010" cy="51841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22234" t="0" r="-22234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28700" y="1381125"/>
            <a:ext cx="9341781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TechnoNova : une startup tournée vers l’innovation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124514"/>
            <a:ext cx="10223919" cy="3486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 u="sng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L’entreprise est née d’un constat simple :</a:t>
            </a: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équipes modernes utilisent aujourd’hui trop d’outils différents pour gérer leurs projets, leurs échanges et leurs tâches quotidiennes.</a:t>
            </a: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Cette multiplication des plateformes entraîne souvent :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une perte de temps importante,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 difficultés de coordination,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 erreurs de suivi,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une surcharge d’informations permanente.</a:t>
            </a:r>
          </a:p>
          <a:p>
            <a:pPr algn="l">
              <a:lnSpc>
                <a:spcPts val="2475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6953987"/>
            <a:ext cx="10223919" cy="2125111"/>
            <a:chOff x="0" y="0"/>
            <a:chExt cx="2993221" cy="62216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93221" cy="622161"/>
            </a:xfrm>
            <a:custGeom>
              <a:avLst/>
              <a:gdLst/>
              <a:ahLst/>
              <a:cxnLst/>
              <a:rect r="r" b="b" t="t" l="l"/>
              <a:pathLst>
                <a:path h="622161" w="2993221">
                  <a:moveTo>
                    <a:pt x="17416" y="0"/>
                  </a:moveTo>
                  <a:lnTo>
                    <a:pt x="2975805" y="0"/>
                  </a:lnTo>
                  <a:cubicBezTo>
                    <a:pt x="2985423" y="0"/>
                    <a:pt x="2993221" y="7798"/>
                    <a:pt x="2993221" y="17416"/>
                  </a:cubicBezTo>
                  <a:lnTo>
                    <a:pt x="2993221" y="604745"/>
                  </a:lnTo>
                  <a:cubicBezTo>
                    <a:pt x="2993221" y="614364"/>
                    <a:pt x="2985423" y="622161"/>
                    <a:pt x="2975805" y="622161"/>
                  </a:cubicBezTo>
                  <a:lnTo>
                    <a:pt x="17416" y="622161"/>
                  </a:lnTo>
                  <a:cubicBezTo>
                    <a:pt x="7798" y="622161"/>
                    <a:pt x="0" y="614364"/>
                    <a:pt x="0" y="604745"/>
                  </a:cubicBezTo>
                  <a:lnTo>
                    <a:pt x="0" y="17416"/>
                  </a:lnTo>
                  <a:cubicBezTo>
                    <a:pt x="0" y="7798"/>
                    <a:pt x="7798" y="0"/>
                    <a:pt x="17416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2808" y="7802193"/>
            <a:ext cx="9309805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Créer des technologies intelligentes capables de simplifier le quotidien des utilisateurs sans complexifier leur manière de travailler.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2808" y="7287362"/>
            <a:ext cx="2712430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Notre mission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554947"/>
            <a:ext cx="3106538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junaeats.com 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9341781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 monde professionnel devenu trop complexe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8948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93463" y="2457925"/>
            <a:ext cx="8822845" cy="7535612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0" y="3571451"/>
            <a:ext cx="8115300" cy="568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entreprises doivent aujourd’hui :</a:t>
            </a:r>
          </a:p>
          <a:p>
            <a:pPr algn="l">
              <a:lnSpc>
                <a:spcPts val="2475"/>
              </a:lnSpc>
            </a:pP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gérer plusieurs projets en parallèle,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collaborer à distance,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répondre rapidement aux clients,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suivre des délais précis,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organiser des flux d’informations toujours plus importants.</a:t>
            </a: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Cependant, beaucoup d’équipes rencontrent les mêmes difficultés :</a:t>
            </a:r>
          </a:p>
          <a:p>
            <a:pPr algn="l">
              <a:lnSpc>
                <a:spcPts val="2475"/>
              </a:lnSpc>
            </a:pP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informations dispersées,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outils mal connectés,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perte de données,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surcharge mentale,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manque de visibilité sur les priorités.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94230" y="3634253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45496" y="4692379"/>
            <a:ext cx="2776274" cy="277627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156795" y="6327675"/>
            <a:ext cx="2776274" cy="277627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863" b="0"/>
              </a:stretch>
            </a:blip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6788262" y="4442718"/>
            <a:ext cx="4711475" cy="9322463"/>
            <a:chOff x="0" y="0"/>
            <a:chExt cx="2620010" cy="51841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22234" t="0" r="-22234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969222" y="7870163"/>
            <a:ext cx="2776274" cy="277627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7"/>
              <a:stretch>
                <a:fillRect l="-25000" t="0" r="-2500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8700" y="8280621"/>
            <a:ext cx="3996260" cy="1646657"/>
            <a:chOff x="0" y="0"/>
            <a:chExt cx="1169971" cy="48208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9971" cy="482086"/>
            </a:xfrm>
            <a:custGeom>
              <a:avLst/>
              <a:gdLst/>
              <a:ahLst/>
              <a:cxnLst/>
              <a:rect r="r" b="b" t="t" l="l"/>
              <a:pathLst>
                <a:path h="482086" w="1169971">
                  <a:moveTo>
                    <a:pt x="44558" y="0"/>
                  </a:moveTo>
                  <a:lnTo>
                    <a:pt x="1125414" y="0"/>
                  </a:lnTo>
                  <a:cubicBezTo>
                    <a:pt x="1137231" y="0"/>
                    <a:pt x="1148564" y="4694"/>
                    <a:pt x="1156921" y="13051"/>
                  </a:cubicBezTo>
                  <a:cubicBezTo>
                    <a:pt x="1165277" y="21407"/>
                    <a:pt x="1169971" y="32740"/>
                    <a:pt x="1169971" y="44558"/>
                  </a:cubicBezTo>
                  <a:lnTo>
                    <a:pt x="1169971" y="437528"/>
                  </a:lnTo>
                  <a:cubicBezTo>
                    <a:pt x="1169971" y="449346"/>
                    <a:pt x="1165277" y="460679"/>
                    <a:pt x="1156921" y="469035"/>
                  </a:cubicBezTo>
                  <a:cubicBezTo>
                    <a:pt x="1148564" y="477391"/>
                    <a:pt x="1137231" y="482086"/>
                    <a:pt x="1125414" y="482086"/>
                  </a:cubicBezTo>
                  <a:lnTo>
                    <a:pt x="44558" y="482086"/>
                  </a:lnTo>
                  <a:cubicBezTo>
                    <a:pt x="32740" y="482086"/>
                    <a:pt x="21407" y="477391"/>
                    <a:pt x="13051" y="469035"/>
                  </a:cubicBezTo>
                  <a:cubicBezTo>
                    <a:pt x="4694" y="460679"/>
                    <a:pt x="0" y="449346"/>
                    <a:pt x="0" y="437528"/>
                  </a:cubicBezTo>
                  <a:lnTo>
                    <a:pt x="0" y="44558"/>
                  </a:lnTo>
                  <a:cubicBezTo>
                    <a:pt x="0" y="32740"/>
                    <a:pt x="4694" y="21407"/>
                    <a:pt x="13051" y="13051"/>
                  </a:cubicBezTo>
                  <a:cubicBezTo>
                    <a:pt x="21407" y="4694"/>
                    <a:pt x="32740" y="0"/>
                    <a:pt x="44558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3026830" y="5143500"/>
            <a:ext cx="1617576" cy="1617576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34012" y="0"/>
                  </a:moveTo>
                  <a:lnTo>
                    <a:pt x="678789" y="0"/>
                  </a:lnTo>
                  <a:cubicBezTo>
                    <a:pt x="752801" y="0"/>
                    <a:pt x="812800" y="59999"/>
                    <a:pt x="812800" y="134012"/>
                  </a:cubicBezTo>
                  <a:lnTo>
                    <a:pt x="812800" y="678789"/>
                  </a:lnTo>
                  <a:cubicBezTo>
                    <a:pt x="812800" y="752801"/>
                    <a:pt x="752801" y="812800"/>
                    <a:pt x="678789" y="812800"/>
                  </a:cubicBezTo>
                  <a:lnTo>
                    <a:pt x="134012" y="812800"/>
                  </a:lnTo>
                  <a:cubicBezTo>
                    <a:pt x="59999" y="812800"/>
                    <a:pt x="0" y="752801"/>
                    <a:pt x="0" y="678789"/>
                  </a:cubicBezTo>
                  <a:lnTo>
                    <a:pt x="0" y="134012"/>
                  </a:lnTo>
                  <a:cubicBezTo>
                    <a:pt x="0" y="59999"/>
                    <a:pt x="59999" y="0"/>
                    <a:pt x="134012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795339" y="2533869"/>
            <a:ext cx="10697322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</a:t>
            </a:r>
            <a:r>
              <a:rPr lang="en-US" b="true" sz="4715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 application collaborative assistée par IA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554947"/>
            <a:ext cx="3128095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357216" y="5281024"/>
            <a:ext cx="3552372" cy="799492"/>
            <a:chOff x="0" y="0"/>
            <a:chExt cx="4736495" cy="106598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4736495" cy="1065989"/>
              <a:chOff x="0" y="0"/>
              <a:chExt cx="1805752" cy="406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8057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52">
                    <a:moveTo>
                      <a:pt x="1602552" y="0"/>
                    </a:moveTo>
                    <a:cubicBezTo>
                      <a:pt x="1714776" y="0"/>
                      <a:pt x="1805752" y="90976"/>
                      <a:pt x="1805752" y="203200"/>
                    </a:cubicBezTo>
                    <a:cubicBezTo>
                      <a:pt x="1805752" y="315424"/>
                      <a:pt x="1714776" y="406400"/>
                      <a:pt x="16025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E851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180575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848775" y="295147"/>
              <a:ext cx="499090" cy="475695"/>
              <a:chOff x="0" y="0"/>
              <a:chExt cx="812800" cy="7747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1473698" y="295147"/>
              <a:ext cx="499090" cy="475695"/>
              <a:chOff x="0" y="0"/>
              <a:chExt cx="812800" cy="7747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137617" y="295147"/>
              <a:ext cx="499090" cy="475695"/>
              <a:chOff x="0" y="0"/>
              <a:chExt cx="812800" cy="7747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762541" y="295147"/>
              <a:ext cx="499090" cy="475695"/>
              <a:chOff x="0" y="0"/>
              <a:chExt cx="812800" cy="7747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3388631" y="295147"/>
              <a:ext cx="499090" cy="475695"/>
              <a:chOff x="0" y="0"/>
              <a:chExt cx="812800" cy="77470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46" id="46"/>
          <p:cNvSpPr txBox="true"/>
          <p:nvPr/>
        </p:nvSpPr>
        <p:spPr>
          <a:xfrm rot="0">
            <a:off x="3757663" y="1529925"/>
            <a:ext cx="10697322" cy="73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b="true" sz="471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echnoDynamik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3291905" y="5408575"/>
            <a:ext cx="1087426" cy="1087426"/>
          </a:xfrm>
          <a:custGeom>
            <a:avLst/>
            <a:gdLst/>
            <a:ahLst/>
            <a:cxnLst/>
            <a:rect r="r" b="b" t="t" l="l"/>
            <a:pathLst>
              <a:path h="1087426" w="1087426">
                <a:moveTo>
                  <a:pt x="0" y="0"/>
                </a:moveTo>
                <a:lnTo>
                  <a:pt x="1087426" y="0"/>
                </a:lnTo>
                <a:lnTo>
                  <a:pt x="1087426" y="1087426"/>
                </a:lnTo>
                <a:lnTo>
                  <a:pt x="0" y="1087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334097" y="9061401"/>
            <a:ext cx="3385466" cy="5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Votre assistant numérique in</a:t>
            </a: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telligent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34097" y="8615871"/>
            <a:ext cx="3372423" cy="4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echnoDynamik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Une application collaborative assistée par 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151435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01228"/>
            <a:ext cx="9403149" cy="3800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TechnoDynamik 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 une application intelligente développée par TechnoNova afin de simplifier l’organisation des équipes et automatiser les processus du quotidien.</a:t>
            </a:r>
          </a:p>
          <a:p>
            <a:pPr algn="l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Grâce à son intelligence artificielle intégrée, l’application est capable :</a:t>
            </a:r>
          </a:p>
          <a:p>
            <a:pPr algn="l">
              <a:lnSpc>
                <a:spcPts val="2475"/>
              </a:lnSpc>
            </a:pP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d’analyser les habitudes de travail,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d’organiser automatiquement certaines tâches,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 proposer des optimisations,</a:t>
            </a:r>
          </a:p>
          <a:p>
            <a:pPr algn="l" marL="472918" indent="-236459" lvl="1">
              <a:lnSpc>
                <a:spcPts val="2475"/>
              </a:lnSpc>
              <a:buFont typeface="Arial"/>
              <a:buChar char="•"/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et d’aider les utilisateurs à mieux gérer leurs projets.</a:t>
            </a:r>
          </a:p>
          <a:p>
            <a:pPr algn="l">
              <a:lnSpc>
                <a:spcPts val="247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7216451"/>
            <a:ext cx="2814537" cy="799492"/>
            <a:chOff x="0" y="0"/>
            <a:chExt cx="1430693" cy="406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30693" cy="406400"/>
            </a:xfrm>
            <a:custGeom>
              <a:avLst/>
              <a:gdLst/>
              <a:ahLst/>
              <a:cxnLst/>
              <a:rect r="r" b="b" t="t" l="l"/>
              <a:pathLst>
                <a:path h="406400" w="1430693">
                  <a:moveTo>
                    <a:pt x="1227493" y="0"/>
                  </a:moveTo>
                  <a:cubicBezTo>
                    <a:pt x="1339718" y="0"/>
                    <a:pt x="1430693" y="90976"/>
                    <a:pt x="1430693" y="203200"/>
                  </a:cubicBezTo>
                  <a:cubicBezTo>
                    <a:pt x="1430693" y="315424"/>
                    <a:pt x="1339718" y="406400"/>
                    <a:pt x="122749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30693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7417627"/>
            <a:ext cx="2814537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Intuitive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4180135" y="7216451"/>
            <a:ext cx="2754290" cy="799492"/>
            <a:chOff x="0" y="0"/>
            <a:chExt cx="1400069" cy="406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00069" cy="406400"/>
            </a:xfrm>
            <a:custGeom>
              <a:avLst/>
              <a:gdLst/>
              <a:ahLst/>
              <a:cxnLst/>
              <a:rect r="r" b="b" t="t" l="l"/>
              <a:pathLst>
                <a:path h="406400" w="1400069">
                  <a:moveTo>
                    <a:pt x="1196869" y="0"/>
                  </a:moveTo>
                  <a:cubicBezTo>
                    <a:pt x="1309093" y="0"/>
                    <a:pt x="1400069" y="90976"/>
                    <a:pt x="1400069" y="203200"/>
                  </a:cubicBezTo>
                  <a:cubicBezTo>
                    <a:pt x="1400069" y="315424"/>
                    <a:pt x="1309093" y="406400"/>
                    <a:pt x="119686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0006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180135" y="7417627"/>
            <a:ext cx="2754290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Moderne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10651" y="7216451"/>
            <a:ext cx="3221199" cy="799492"/>
            <a:chOff x="0" y="0"/>
            <a:chExt cx="1637409" cy="406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37409" cy="406400"/>
            </a:xfrm>
            <a:custGeom>
              <a:avLst/>
              <a:gdLst/>
              <a:ahLst/>
              <a:cxnLst/>
              <a:rect r="r" b="b" t="t" l="l"/>
              <a:pathLst>
                <a:path h="406400" w="1637409">
                  <a:moveTo>
                    <a:pt x="1434209" y="0"/>
                  </a:moveTo>
                  <a:cubicBezTo>
                    <a:pt x="1546433" y="0"/>
                    <a:pt x="1637409" y="90976"/>
                    <a:pt x="1637409" y="203200"/>
                  </a:cubicBezTo>
                  <a:cubicBezTo>
                    <a:pt x="1637409" y="315424"/>
                    <a:pt x="1546433" y="406400"/>
                    <a:pt x="143420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37409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210651" y="7417627"/>
            <a:ext cx="3221199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Accessible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338263" y="1400175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1" y="0"/>
                </a:lnTo>
                <a:lnTo>
                  <a:pt x="12499541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483026" y="2298678"/>
            <a:ext cx="2776274" cy="27762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49863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104809" y="5646332"/>
            <a:ext cx="2776274" cy="27762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-32831" t="0" r="-32831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61711" y="4134375"/>
            <a:ext cx="2242631" cy="224263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96660" y="0"/>
                  </a:moveTo>
                  <a:lnTo>
                    <a:pt x="716140" y="0"/>
                  </a:lnTo>
                  <a:cubicBezTo>
                    <a:pt x="769524" y="0"/>
                    <a:pt x="812800" y="43276"/>
                    <a:pt x="812800" y="96660"/>
                  </a:cubicBezTo>
                  <a:lnTo>
                    <a:pt x="812800" y="716140"/>
                  </a:lnTo>
                  <a:cubicBezTo>
                    <a:pt x="812800" y="769524"/>
                    <a:pt x="769524" y="812800"/>
                    <a:pt x="716140" y="812800"/>
                  </a:cubicBezTo>
                  <a:lnTo>
                    <a:pt x="96660" y="812800"/>
                  </a:lnTo>
                  <a:cubicBezTo>
                    <a:pt x="43276" y="812800"/>
                    <a:pt x="0" y="769524"/>
                    <a:pt x="0" y="716140"/>
                  </a:cubicBezTo>
                  <a:lnTo>
                    <a:pt x="0" y="96660"/>
                  </a:lnTo>
                  <a:cubicBezTo>
                    <a:pt x="0" y="43276"/>
                    <a:pt x="43276" y="0"/>
                    <a:pt x="96660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3664440" y="4437104"/>
            <a:ext cx="1637173" cy="1637173"/>
          </a:xfrm>
          <a:custGeom>
            <a:avLst/>
            <a:gdLst/>
            <a:ahLst/>
            <a:cxnLst/>
            <a:rect r="r" b="b" t="t" l="l"/>
            <a:pathLst>
              <a:path h="1637173" w="1637173">
                <a:moveTo>
                  <a:pt x="0" y="0"/>
                </a:moveTo>
                <a:lnTo>
                  <a:pt x="1637173" y="0"/>
                </a:lnTo>
                <a:lnTo>
                  <a:pt x="1637173" y="1637173"/>
                </a:lnTo>
                <a:lnTo>
                  <a:pt x="0" y="16371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Une plateforme complète alimentée par l’IA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39422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894230" y="6930996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919085"/>
            <a:ext cx="5185201" cy="3284851"/>
            <a:chOff x="0" y="0"/>
            <a:chExt cx="1518053" cy="9616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8053" cy="961694"/>
            </a:xfrm>
            <a:custGeom>
              <a:avLst/>
              <a:gdLst/>
              <a:ahLst/>
              <a:cxnLst/>
              <a:rect r="r" b="b" t="t" l="l"/>
              <a:pathLst>
                <a:path h="961694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927354"/>
                  </a:lnTo>
                  <a:cubicBezTo>
                    <a:pt x="1518053" y="936461"/>
                    <a:pt x="1514435" y="945196"/>
                    <a:pt x="1507995" y="951636"/>
                  </a:cubicBezTo>
                  <a:cubicBezTo>
                    <a:pt x="1501555" y="958076"/>
                    <a:pt x="1492820" y="961694"/>
                    <a:pt x="1483712" y="961694"/>
                  </a:cubicBezTo>
                  <a:lnTo>
                    <a:pt x="34341" y="961694"/>
                  </a:lnTo>
                  <a:cubicBezTo>
                    <a:pt x="25233" y="961694"/>
                    <a:pt x="16498" y="958076"/>
                    <a:pt x="10058" y="951636"/>
                  </a:cubicBezTo>
                  <a:cubicBezTo>
                    <a:pt x="3618" y="945196"/>
                    <a:pt x="0" y="936461"/>
                    <a:pt x="0" y="927354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383338" y="5406572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L’utilisateur peut interagir avec l’IA afin d’obtenir des recommandations et une aide en temps réel.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3338" y="4420626"/>
            <a:ext cx="4351094" cy="8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Assistant intelligent intégré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266274" y="6930996"/>
            <a:ext cx="2776274" cy="27762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50755" y="3919085"/>
            <a:ext cx="5185201" cy="3284851"/>
            <a:chOff x="0" y="0"/>
            <a:chExt cx="1518053" cy="96169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18053" cy="961694"/>
            </a:xfrm>
            <a:custGeom>
              <a:avLst/>
              <a:gdLst/>
              <a:ahLst/>
              <a:cxnLst/>
              <a:rect r="r" b="b" t="t" l="l"/>
              <a:pathLst>
                <a:path h="961694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927354"/>
                  </a:lnTo>
                  <a:cubicBezTo>
                    <a:pt x="1518053" y="936461"/>
                    <a:pt x="1514435" y="945196"/>
                    <a:pt x="1507995" y="951636"/>
                  </a:cubicBezTo>
                  <a:cubicBezTo>
                    <a:pt x="1501555" y="958076"/>
                    <a:pt x="1492820" y="961694"/>
                    <a:pt x="1483712" y="961694"/>
                  </a:cubicBezTo>
                  <a:lnTo>
                    <a:pt x="34341" y="961694"/>
                  </a:lnTo>
                  <a:cubicBezTo>
                    <a:pt x="25233" y="961694"/>
                    <a:pt x="16498" y="958076"/>
                    <a:pt x="10058" y="951636"/>
                  </a:cubicBezTo>
                  <a:cubicBezTo>
                    <a:pt x="3618" y="945196"/>
                    <a:pt x="0" y="936461"/>
                    <a:pt x="0" y="927354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905393" y="5406572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L’application priorise automatiquement certaines missions selon leur importance et leur urgence.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5393" y="4420626"/>
            <a:ext cx="4351094" cy="8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Gestion automatisée des tâches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74099" y="3919085"/>
            <a:ext cx="5185201" cy="3284851"/>
            <a:chOff x="0" y="0"/>
            <a:chExt cx="1518053" cy="9616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18053" cy="961694"/>
            </a:xfrm>
            <a:custGeom>
              <a:avLst/>
              <a:gdLst/>
              <a:ahLst/>
              <a:cxnLst/>
              <a:rect r="r" b="b" t="t" l="l"/>
              <a:pathLst>
                <a:path h="961694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927354"/>
                  </a:lnTo>
                  <a:cubicBezTo>
                    <a:pt x="1518053" y="936461"/>
                    <a:pt x="1514435" y="945196"/>
                    <a:pt x="1507995" y="951636"/>
                  </a:cubicBezTo>
                  <a:cubicBezTo>
                    <a:pt x="1501555" y="958076"/>
                    <a:pt x="1492820" y="961694"/>
                    <a:pt x="1483712" y="961694"/>
                  </a:cubicBezTo>
                  <a:lnTo>
                    <a:pt x="34341" y="961694"/>
                  </a:lnTo>
                  <a:cubicBezTo>
                    <a:pt x="25233" y="961694"/>
                    <a:pt x="16498" y="958076"/>
                    <a:pt x="10058" y="951636"/>
                  </a:cubicBezTo>
                  <a:cubicBezTo>
                    <a:pt x="3618" y="945196"/>
                    <a:pt x="0" y="936461"/>
                    <a:pt x="0" y="927354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428736" y="5406572"/>
            <a:ext cx="4475926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Après chaque réunion ou échange, l’IA peut créer un résumé clair et structuré.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28736" y="4420626"/>
            <a:ext cx="4351094" cy="89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Génération de comptes rendus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023278"/>
            <a:ext cx="16284151" cy="65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L’intelligence artificielle de TechnoDynamik agit comme un assistant numérique intelligent capable d’accompagner les utilisateurs au quotidien.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3774481" y="8081230"/>
            <a:ext cx="2776274" cy="277627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9863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180084" y="8231641"/>
            <a:ext cx="2776274" cy="277627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6"/>
              <a:stretch>
                <a:fillRect l="-49910" t="-32717" r="-49165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528568" y="8578262"/>
            <a:ext cx="3552372" cy="799492"/>
            <a:chOff x="0" y="0"/>
            <a:chExt cx="4736495" cy="106598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736495" cy="1065989"/>
              <a:chOff x="0" y="0"/>
              <a:chExt cx="1805752" cy="4064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05752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1805752">
                    <a:moveTo>
                      <a:pt x="1602552" y="0"/>
                    </a:moveTo>
                    <a:cubicBezTo>
                      <a:pt x="1714776" y="0"/>
                      <a:pt x="1805752" y="90976"/>
                      <a:pt x="1805752" y="203200"/>
                    </a:cubicBezTo>
                    <a:cubicBezTo>
                      <a:pt x="1805752" y="315424"/>
                      <a:pt x="1714776" y="406400"/>
                      <a:pt x="1602552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E851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805752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848775" y="295147"/>
              <a:ext cx="499090" cy="475695"/>
              <a:chOff x="0" y="0"/>
              <a:chExt cx="812800" cy="7747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473698" y="295147"/>
              <a:ext cx="499090" cy="475695"/>
              <a:chOff x="0" y="0"/>
              <a:chExt cx="812800" cy="7747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2137617" y="295147"/>
              <a:ext cx="499090" cy="475695"/>
              <a:chOff x="0" y="0"/>
              <a:chExt cx="812800" cy="774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2762541" y="295147"/>
              <a:ext cx="499090" cy="475695"/>
              <a:chOff x="0" y="0"/>
              <a:chExt cx="812800" cy="7747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3388631" y="295147"/>
              <a:ext cx="499090" cy="475695"/>
              <a:chOff x="0" y="0"/>
              <a:chExt cx="812800" cy="774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 abonnements adaptés à chaque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139540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145990"/>
            <a:ext cx="4422375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 les indépendants et petites équipes souhaitant découvri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l’intelligence artificielle collaborative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54367" y="3502417"/>
            <a:ext cx="2776274" cy="277627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2"/>
              <a:stretch>
                <a:fillRect l="-25000" t="0" r="-2500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5977260"/>
            <a:ext cx="3341691" cy="799492"/>
            <a:chOff x="0" y="0"/>
            <a:chExt cx="1698658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8658" cy="406400"/>
            </a:xfrm>
            <a:custGeom>
              <a:avLst/>
              <a:gdLst/>
              <a:ahLst/>
              <a:cxnLst/>
              <a:rect r="r" b="b" t="t" l="l"/>
              <a:pathLst>
                <a:path h="406400" w="1698658">
                  <a:moveTo>
                    <a:pt x="1495458" y="0"/>
                  </a:moveTo>
                  <a:cubicBezTo>
                    <a:pt x="1607682" y="0"/>
                    <a:pt x="1698658" y="90976"/>
                    <a:pt x="1698658" y="203200"/>
                  </a:cubicBezTo>
                  <a:cubicBezTo>
                    <a:pt x="1698658" y="315424"/>
                    <a:pt x="1607682" y="406400"/>
                    <a:pt x="1495458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9865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6178436"/>
            <a:ext cx="3341691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Offre START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2813" y="7155898"/>
            <a:ext cx="4422375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 les entreprises souhaitant optimise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 leur organisation de manière avancée.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55863" y="3527984"/>
            <a:ext cx="2776274" cy="277627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3"/>
              <a:stretch>
                <a:fillRect l="-32831" t="0" r="-3283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363661" y="3336332"/>
            <a:ext cx="3793538" cy="799492"/>
            <a:chOff x="0" y="0"/>
            <a:chExt cx="1928342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8342" cy="406400"/>
            </a:xfrm>
            <a:custGeom>
              <a:avLst/>
              <a:gdLst/>
              <a:ahLst/>
              <a:cxnLst/>
              <a:rect r="r" b="b" t="t" l="l"/>
              <a:pathLst>
                <a:path h="406400" w="1928342">
                  <a:moveTo>
                    <a:pt x="1725142" y="0"/>
                  </a:moveTo>
                  <a:cubicBezTo>
                    <a:pt x="1837366" y="0"/>
                    <a:pt x="1928342" y="90976"/>
                    <a:pt x="1928342" y="203200"/>
                  </a:cubicBezTo>
                  <a:cubicBezTo>
                    <a:pt x="1928342" y="315424"/>
                    <a:pt x="1837366" y="406400"/>
                    <a:pt x="17251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92834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63661" y="3537509"/>
            <a:ext cx="3793538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Offre BUSINESS AI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34308" y="7145990"/>
            <a:ext cx="4422375" cy="971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 les structures recherchant une</a:t>
            </a: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solution avancée et évolutive sur le long terme.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357359" y="3527984"/>
            <a:ext cx="2776274" cy="277627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526008" y="4916120"/>
            <a:ext cx="3733292" cy="799492"/>
            <a:chOff x="0" y="0"/>
            <a:chExt cx="1897718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97717" cy="406400"/>
            </a:xfrm>
            <a:custGeom>
              <a:avLst/>
              <a:gdLst/>
              <a:ahLst/>
              <a:cxnLst/>
              <a:rect r="r" b="b" t="t" l="l"/>
              <a:pathLst>
                <a:path h="406400" w="1897717">
                  <a:moveTo>
                    <a:pt x="1694517" y="0"/>
                  </a:moveTo>
                  <a:cubicBezTo>
                    <a:pt x="1806742" y="0"/>
                    <a:pt x="1897717" y="90976"/>
                    <a:pt x="1897717" y="203200"/>
                  </a:cubicBezTo>
                  <a:cubicBezTo>
                    <a:pt x="1897717" y="315424"/>
                    <a:pt x="1806742" y="406400"/>
                    <a:pt x="169451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97718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526008" y="5117296"/>
            <a:ext cx="3733292" cy="441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96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Offre PREMIUM 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44553" y="8956164"/>
            <a:ext cx="2995903" cy="41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71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dès 9€99/mois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46049" y="8956164"/>
            <a:ext cx="2995903" cy="41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71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dès 20€99/mois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357359" y="8956164"/>
            <a:ext cx="2995903" cy="41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64"/>
              </a:lnSpc>
            </a:pPr>
            <a:r>
              <a:rPr lang="en-US" sz="2711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dès 25€99/mois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381125"/>
            <a:ext cx="8844750" cy="1413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Pourquoi choisir une application basée sur l’IA 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8948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3261369"/>
            <a:ext cx="5185201" cy="2878189"/>
            <a:chOff x="0" y="0"/>
            <a:chExt cx="1518053" cy="8426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83338" y="4434531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tâches répétitives sont automatisées afin de réduire la charge administrative quotidienne.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3338" y="3762909"/>
            <a:ext cx="4351094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Gain de temps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50755" y="3261369"/>
            <a:ext cx="5185201" cy="2878189"/>
            <a:chOff x="0" y="0"/>
            <a:chExt cx="1518053" cy="8426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906037" y="4476258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équipes peuvent se concentrer sur des missions à plus forte valeur ajoutée.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6905393" y="3762909"/>
            <a:ext cx="4351094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Productivité améliorée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74099" y="3261369"/>
            <a:ext cx="5185201" cy="2878189"/>
            <a:chOff x="0" y="0"/>
            <a:chExt cx="1518053" cy="8426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431282" y="4476258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L’intelligence artificielle aide les utilisateurs à structurer leurs projets plus efficacement.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428736" y="3762909"/>
            <a:ext cx="4577017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Organisation optimisée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6396732"/>
            <a:ext cx="5185201" cy="2878189"/>
            <a:chOff x="0" y="0"/>
            <a:chExt cx="1518053" cy="84263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83338" y="7569894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oublis et les pertes d’informations deviennent beaucoup moins fréquents.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383338" y="6898273"/>
            <a:ext cx="4351094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Réduction des erreurs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50755" y="6396732"/>
            <a:ext cx="5185201" cy="2878189"/>
            <a:chOff x="0" y="0"/>
            <a:chExt cx="1518053" cy="8426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6906037" y="7611622"/>
            <a:ext cx="4475926" cy="1286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équipes peuvent se concentrer sur des missions à plus forte valeur ajoutée.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905393" y="6898273"/>
            <a:ext cx="4476570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Adaptation intelligente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074099" y="6396732"/>
            <a:ext cx="5185201" cy="2878189"/>
            <a:chOff x="0" y="0"/>
            <a:chExt cx="1518053" cy="8426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18053" cy="842637"/>
            </a:xfrm>
            <a:custGeom>
              <a:avLst/>
              <a:gdLst/>
              <a:ahLst/>
              <a:cxnLst/>
              <a:rect r="r" b="b" t="t" l="l"/>
              <a:pathLst>
                <a:path h="842637" w="1518053">
                  <a:moveTo>
                    <a:pt x="34341" y="0"/>
                  </a:moveTo>
                  <a:lnTo>
                    <a:pt x="1483712" y="0"/>
                  </a:lnTo>
                  <a:cubicBezTo>
                    <a:pt x="1492820" y="0"/>
                    <a:pt x="1501555" y="3618"/>
                    <a:pt x="1507995" y="10058"/>
                  </a:cubicBezTo>
                  <a:cubicBezTo>
                    <a:pt x="1514435" y="16498"/>
                    <a:pt x="1518053" y="25233"/>
                    <a:pt x="1518053" y="34341"/>
                  </a:cubicBezTo>
                  <a:lnTo>
                    <a:pt x="1518053" y="808296"/>
                  </a:lnTo>
                  <a:cubicBezTo>
                    <a:pt x="1518053" y="817404"/>
                    <a:pt x="1514435" y="826139"/>
                    <a:pt x="1507995" y="832579"/>
                  </a:cubicBezTo>
                  <a:cubicBezTo>
                    <a:pt x="1501555" y="839019"/>
                    <a:pt x="1492820" y="842637"/>
                    <a:pt x="1483712" y="842637"/>
                  </a:cubicBezTo>
                  <a:lnTo>
                    <a:pt x="34341" y="842637"/>
                  </a:lnTo>
                  <a:cubicBezTo>
                    <a:pt x="25233" y="842637"/>
                    <a:pt x="16498" y="839019"/>
                    <a:pt x="10058" y="832579"/>
                  </a:cubicBezTo>
                  <a:cubicBezTo>
                    <a:pt x="3618" y="826139"/>
                    <a:pt x="0" y="817404"/>
                    <a:pt x="0" y="808296"/>
                  </a:cubicBezTo>
                  <a:lnTo>
                    <a:pt x="0" y="34341"/>
                  </a:lnTo>
                  <a:cubicBezTo>
                    <a:pt x="0" y="25233"/>
                    <a:pt x="3618" y="16498"/>
                    <a:pt x="10058" y="10058"/>
                  </a:cubicBezTo>
                  <a:cubicBezTo>
                    <a:pt x="16498" y="3618"/>
                    <a:pt x="25233" y="0"/>
                    <a:pt x="34341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431282" y="7611622"/>
            <a:ext cx="4475926" cy="160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21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TechnoDynamik a été pensée pour assister les équipes et non pour remplacer les collaborateurs.</a:t>
            </a:r>
          </a:p>
          <a:p>
            <a:pPr algn="l">
              <a:lnSpc>
                <a:spcPts val="247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2428736" y="6898273"/>
            <a:ext cx="4577017" cy="467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5"/>
              </a:lnSpc>
            </a:pPr>
            <a:r>
              <a:rPr lang="en-US" sz="300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 service de l’humain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795339" y="1592122"/>
            <a:ext cx="10697322" cy="737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8"/>
              </a:lnSpc>
            </a:pPr>
            <a:r>
              <a:rPr lang="en-US" sz="471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Merci pour votre attention 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554947"/>
            <a:ext cx="3049721" cy="3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Juna ( juna</a:t>
            </a: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eats.com 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745496" y="554947"/>
            <a:ext cx="2513804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Pitch deck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894230" y="3634253"/>
            <a:ext cx="12499541" cy="11658662"/>
          </a:xfrm>
          <a:custGeom>
            <a:avLst/>
            <a:gdLst/>
            <a:ahLst/>
            <a:cxnLst/>
            <a:rect r="r" b="b" t="t" l="l"/>
            <a:pathLst>
              <a:path h="11658662" w="12499541">
                <a:moveTo>
                  <a:pt x="0" y="0"/>
                </a:moveTo>
                <a:lnTo>
                  <a:pt x="12499540" y="0"/>
                </a:lnTo>
                <a:lnTo>
                  <a:pt x="12499540" y="11658662"/>
                </a:lnTo>
                <a:lnTo>
                  <a:pt x="0" y="11658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171170" y="3205145"/>
            <a:ext cx="5945659" cy="6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347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salut@canvasupersite.fr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57663" y="2424224"/>
            <a:ext cx="10697322" cy="596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24"/>
              </a:lnSpc>
            </a:pPr>
            <a:r>
              <a:rPr lang="en-US" sz="39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reste en contact 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068718" y="4101090"/>
            <a:ext cx="2776274" cy="277627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4"/>
              <a:stretch>
                <a:fillRect l="-32831" t="0" r="-3283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253731" y="7252119"/>
            <a:ext cx="2776274" cy="2776274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5"/>
              <a:stretch>
                <a:fillRect l="-10850" t="0" r="-39149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788262" y="4442718"/>
            <a:ext cx="4711475" cy="932246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22234" t="0" r="-2223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65683" y="5489227"/>
            <a:ext cx="3552372" cy="799492"/>
            <a:chOff x="0" y="0"/>
            <a:chExt cx="1805752" cy="406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05752" cy="406400"/>
            </a:xfrm>
            <a:custGeom>
              <a:avLst/>
              <a:gdLst/>
              <a:ahLst/>
              <a:cxnLst/>
              <a:rect r="r" b="b" t="t" l="l"/>
              <a:pathLst>
                <a:path h="406400" w="1805752">
                  <a:moveTo>
                    <a:pt x="1602552" y="0"/>
                  </a:moveTo>
                  <a:cubicBezTo>
                    <a:pt x="1714776" y="0"/>
                    <a:pt x="1805752" y="90976"/>
                    <a:pt x="1805752" y="203200"/>
                  </a:cubicBezTo>
                  <a:cubicBezTo>
                    <a:pt x="1805752" y="315424"/>
                    <a:pt x="1714776" y="406400"/>
                    <a:pt x="160255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E851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805752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709" y="4292633"/>
            <a:ext cx="2776274" cy="277627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7"/>
              <a:stretch>
                <a:fillRect l="-25046" t="0" r="-2504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822300" y="3947387"/>
            <a:ext cx="1256120" cy="1256120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72574" y="0"/>
                  </a:moveTo>
                  <a:lnTo>
                    <a:pt x="640226" y="0"/>
                  </a:lnTo>
                  <a:cubicBezTo>
                    <a:pt x="735536" y="0"/>
                    <a:pt x="812800" y="77264"/>
                    <a:pt x="812800" y="172574"/>
                  </a:cubicBezTo>
                  <a:lnTo>
                    <a:pt x="812800" y="640226"/>
                  </a:lnTo>
                  <a:cubicBezTo>
                    <a:pt x="812800" y="735536"/>
                    <a:pt x="735536" y="812800"/>
                    <a:pt x="640226" y="812800"/>
                  </a:cubicBezTo>
                  <a:lnTo>
                    <a:pt x="172574" y="812800"/>
                  </a:lnTo>
                  <a:cubicBezTo>
                    <a:pt x="77264" y="812800"/>
                    <a:pt x="0" y="735536"/>
                    <a:pt x="0" y="640226"/>
                  </a:cubicBezTo>
                  <a:lnTo>
                    <a:pt x="0" y="172574"/>
                  </a:lnTo>
                  <a:cubicBezTo>
                    <a:pt x="0" y="77264"/>
                    <a:pt x="77264" y="0"/>
                    <a:pt x="172574" y="0"/>
                  </a:cubicBezTo>
                  <a:close/>
                </a:path>
              </a:pathLst>
            </a:custGeom>
            <a:solidFill>
              <a:srgbClr val="79B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270986" y="8641744"/>
            <a:ext cx="3189394" cy="6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3476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2030  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502264" y="5710587"/>
            <a:ext cx="2279209" cy="356771"/>
            <a:chOff x="0" y="0"/>
            <a:chExt cx="3038946" cy="475695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99090" cy="475695"/>
              <a:chOff x="0" y="0"/>
              <a:chExt cx="812800" cy="7747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624924" y="0"/>
              <a:ext cx="499090" cy="475695"/>
              <a:chOff x="0" y="0"/>
              <a:chExt cx="812800" cy="7747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288842" y="0"/>
              <a:ext cx="499090" cy="475695"/>
              <a:chOff x="0" y="0"/>
              <a:chExt cx="812800" cy="7747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1913766" y="0"/>
              <a:ext cx="499090" cy="475695"/>
              <a:chOff x="0" y="0"/>
              <a:chExt cx="812800" cy="7747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0">
              <a:off x="2539856" y="0"/>
              <a:ext cx="499090" cy="475695"/>
              <a:chOff x="0" y="0"/>
              <a:chExt cx="812800" cy="7747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773430"/>
              </a:xfrm>
              <a:custGeom>
                <a:avLst/>
                <a:gdLst/>
                <a:ahLst/>
                <a:cxnLst/>
                <a:rect r="r" b="b" t="t" l="l"/>
                <a:pathLst>
                  <a:path h="773430" w="812800">
                    <a:moveTo>
                      <a:pt x="406400" y="0"/>
                    </a:moveTo>
                    <a:lnTo>
                      <a:pt x="523240" y="266700"/>
                    </a:lnTo>
                    <a:lnTo>
                      <a:pt x="812800" y="294640"/>
                    </a:lnTo>
                    <a:lnTo>
                      <a:pt x="595630" y="488950"/>
                    </a:lnTo>
                    <a:lnTo>
                      <a:pt x="657860" y="773430"/>
                    </a:lnTo>
                    <a:lnTo>
                      <a:pt x="406400" y="626110"/>
                    </a:lnTo>
                    <a:lnTo>
                      <a:pt x="154940" y="773430"/>
                    </a:lnTo>
                    <a:lnTo>
                      <a:pt x="217170" y="488950"/>
                    </a:lnTo>
                    <a:lnTo>
                      <a:pt x="0" y="294640"/>
                    </a:lnTo>
                    <a:lnTo>
                      <a:pt x="289560" y="26670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217617" y="228557"/>
                <a:ext cx="377566" cy="3971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Freeform 47" id="47"/>
          <p:cNvSpPr/>
          <p:nvPr/>
        </p:nvSpPr>
        <p:spPr>
          <a:xfrm flipH="false" flipV="false" rot="0">
            <a:off x="2970659" y="4095746"/>
            <a:ext cx="959403" cy="959403"/>
          </a:xfrm>
          <a:custGeom>
            <a:avLst/>
            <a:gdLst/>
            <a:ahLst/>
            <a:cxnLst/>
            <a:rect r="r" b="b" t="t" l="l"/>
            <a:pathLst>
              <a:path h="959403" w="959403">
                <a:moveTo>
                  <a:pt x="0" y="0"/>
                </a:moveTo>
                <a:lnTo>
                  <a:pt x="959403" y="0"/>
                </a:lnTo>
                <a:lnTo>
                  <a:pt x="959403" y="959403"/>
                </a:lnTo>
                <a:lnTo>
                  <a:pt x="0" y="959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4492661" y="7068907"/>
            <a:ext cx="2776274" cy="2776274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64138" y="0"/>
                  </a:moveTo>
                  <a:lnTo>
                    <a:pt x="748662" y="0"/>
                  </a:lnTo>
                  <a:cubicBezTo>
                    <a:pt x="765673" y="0"/>
                    <a:pt x="781986" y="6757"/>
                    <a:pt x="794014" y="18786"/>
                  </a:cubicBezTo>
                  <a:cubicBezTo>
                    <a:pt x="806043" y="30814"/>
                    <a:pt x="812800" y="47127"/>
                    <a:pt x="812800" y="64138"/>
                  </a:cubicBezTo>
                  <a:lnTo>
                    <a:pt x="812800" y="748662"/>
                  </a:lnTo>
                  <a:cubicBezTo>
                    <a:pt x="812800" y="765673"/>
                    <a:pt x="806043" y="781986"/>
                    <a:pt x="794014" y="794014"/>
                  </a:cubicBezTo>
                  <a:cubicBezTo>
                    <a:pt x="781986" y="806043"/>
                    <a:pt x="765673" y="812800"/>
                    <a:pt x="748662" y="812800"/>
                  </a:cubicBezTo>
                  <a:lnTo>
                    <a:pt x="64138" y="812800"/>
                  </a:lnTo>
                  <a:cubicBezTo>
                    <a:pt x="47127" y="812800"/>
                    <a:pt x="30814" y="806043"/>
                    <a:pt x="18786" y="794014"/>
                  </a:cubicBezTo>
                  <a:cubicBezTo>
                    <a:pt x="6757" y="781986"/>
                    <a:pt x="0" y="765673"/>
                    <a:pt x="0" y="748662"/>
                  </a:cubicBezTo>
                  <a:lnTo>
                    <a:pt x="0" y="64138"/>
                  </a:lnTo>
                  <a:cubicBezTo>
                    <a:pt x="0" y="47127"/>
                    <a:pt x="6757" y="30814"/>
                    <a:pt x="18786" y="18786"/>
                  </a:cubicBezTo>
                  <a:cubicBezTo>
                    <a:pt x="30814" y="6757"/>
                    <a:pt x="47127" y="0"/>
                    <a:pt x="64138" y="0"/>
                  </a:cubicBezTo>
                  <a:close/>
                </a:path>
              </a:pathLst>
            </a:custGeom>
            <a:blipFill>
              <a:blip r:embed="rId10"/>
              <a:stretch>
                <a:fillRect l="-24955" t="-33468" r="-75247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006138" y="7816927"/>
            <a:ext cx="3996260" cy="1646657"/>
            <a:chOff x="0" y="0"/>
            <a:chExt cx="1169971" cy="48208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69971" cy="482086"/>
            </a:xfrm>
            <a:custGeom>
              <a:avLst/>
              <a:gdLst/>
              <a:ahLst/>
              <a:cxnLst/>
              <a:rect r="r" b="b" t="t" l="l"/>
              <a:pathLst>
                <a:path h="482086" w="1169971">
                  <a:moveTo>
                    <a:pt x="44558" y="0"/>
                  </a:moveTo>
                  <a:lnTo>
                    <a:pt x="1125414" y="0"/>
                  </a:lnTo>
                  <a:cubicBezTo>
                    <a:pt x="1137231" y="0"/>
                    <a:pt x="1148564" y="4694"/>
                    <a:pt x="1156921" y="13051"/>
                  </a:cubicBezTo>
                  <a:cubicBezTo>
                    <a:pt x="1165277" y="21407"/>
                    <a:pt x="1169971" y="32740"/>
                    <a:pt x="1169971" y="44558"/>
                  </a:cubicBezTo>
                  <a:lnTo>
                    <a:pt x="1169971" y="437528"/>
                  </a:lnTo>
                  <a:cubicBezTo>
                    <a:pt x="1169971" y="449346"/>
                    <a:pt x="1165277" y="460679"/>
                    <a:pt x="1156921" y="469035"/>
                  </a:cubicBezTo>
                  <a:cubicBezTo>
                    <a:pt x="1148564" y="477391"/>
                    <a:pt x="1137231" y="482086"/>
                    <a:pt x="1125414" y="482086"/>
                  </a:cubicBezTo>
                  <a:lnTo>
                    <a:pt x="44558" y="482086"/>
                  </a:lnTo>
                  <a:cubicBezTo>
                    <a:pt x="32740" y="482086"/>
                    <a:pt x="21407" y="477391"/>
                    <a:pt x="13051" y="469035"/>
                  </a:cubicBezTo>
                  <a:cubicBezTo>
                    <a:pt x="4694" y="460679"/>
                    <a:pt x="0" y="449346"/>
                    <a:pt x="0" y="437528"/>
                  </a:cubicBezTo>
                  <a:lnTo>
                    <a:pt x="0" y="44558"/>
                  </a:lnTo>
                  <a:cubicBezTo>
                    <a:pt x="0" y="32740"/>
                    <a:pt x="4694" y="21407"/>
                    <a:pt x="13051" y="13051"/>
                  </a:cubicBezTo>
                  <a:cubicBezTo>
                    <a:pt x="21407" y="4694"/>
                    <a:pt x="32740" y="0"/>
                    <a:pt x="44558" y="0"/>
                  </a:cubicBezTo>
                  <a:close/>
                </a:path>
              </a:pathLst>
            </a:custGeom>
            <a:solidFill>
              <a:srgbClr val="FEB1FF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2324578" y="8573323"/>
            <a:ext cx="3385466" cy="5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8"/>
              </a:lnSpc>
            </a:pP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Votre assistant numérique in</a:t>
            </a:r>
            <a:r>
              <a:rPr lang="en-US" sz="1830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telligent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324578" y="8127793"/>
            <a:ext cx="3372423" cy="445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</a:t>
            </a:r>
            <a:r>
              <a:rPr lang="en-US" sz="2973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echnoDynamik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DAHMYIbU3fY</dc:identifier>
  <dcterms:modified xsi:type="dcterms:W3CDTF">2011-08-01T06:04:30Z</dcterms:modified>
  <cp:revision>1</cp:revision>
  <dc:title>Présentation produit application moderne coloré</dc:title>
</cp:coreProperties>
</file>
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 Medium" charset="1" panose="00000600000000000000"/>
      <p:regular r:id="rId16"/>
    </p:embeddedFont>
    <p:embeddedFont>
      <p:font typeface="Poppins" charset="1" panose="00000500000000000000"/>
      <p:regular r:id="rId17"/>
    </p:embeddedFont>
    <p:embeddedFont>
      <p:font typeface="Poppins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eg"/><Relationship Id="rId7" Type="http://schemas.openxmlformats.org/officeDocument/2006/relationships/image" Target="../media/image6.jpeg"/><Relationship Id="rId8" Type="http://schemas.openxmlformats.org/officeDocument/2006/relationships/image" Target="../media/image7.jpeg"/><Relationship Id="rId9" Type="http://schemas.openxmlformats.org/officeDocument/2006/relationships/image" Target="../media/image8.png"/><Relationship Id="rId10" Type="http://schemas.openxmlformats.org/officeDocument/2006/relationships/image" Target="../media/image9.svg"/><Relationship Id="rId11" Type="http://schemas.openxmlformats.org/officeDocument/2006/relationships/image" Target="../media/image1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eg"/><Relationship Id="rId5" Type="http://schemas.openxmlformats.org/officeDocument/2006/relationships/image" Target="../media/image10.jpeg"/><Relationship Id="rId6" Type="http://schemas.openxmlformats.org/officeDocument/2006/relationships/image" Target="../media/image7.jpeg"/><Relationship Id="rId7" Type="http://schemas.openxmlformats.org/officeDocument/2006/relationships/image" Target="../media/image8.png"/><Relationship Id="rId8" Type="http://schemas.openxmlformats.org/officeDocument/2006/relationships/image" Target="../media/image9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1.jpeg"/><Relationship Id="rId5" Type="http://schemas.openxmlformats.org/officeDocument/2006/relationships/image" Target="../media/image5.jpeg"/><Relationship Id="rId6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eg"/><Relationship Id="rId5" Type="http://schemas.openxmlformats.org/officeDocument/2006/relationships/image" Target="../media/image10.jpeg"/><Relationship Id="rId6" Type="http://schemas.openxmlformats.org/officeDocument/2006/relationships/image" Target="../media/image5.jpeg"/><Relationship Id="rId7" Type="http://schemas.openxmlformats.org/officeDocument/2006/relationships/image" Target="../media/image7.jpeg"/><Relationship Id="rId8" Type="http://schemas.openxmlformats.org/officeDocument/2006/relationships/image" Target="../media/image8.png"/><Relationship Id="rId9" Type="http://schemas.openxmlformats.org/officeDocument/2006/relationships/image" Target="../media/image9.svg"/><Relationship Id="rId10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0.jpeg"/><Relationship Id="rId5" Type="http://schemas.openxmlformats.org/officeDocument/2006/relationships/image" Target="../media/image3.jpeg"/><Relationship Id="rId6" Type="http://schemas.openxmlformats.org/officeDocument/2006/relationships/image" Target="../media/image8.png"/><Relationship Id="rId7" Type="http://schemas.openxmlformats.org/officeDocument/2006/relationships/image" Target="../media/image9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eg"/><Relationship Id="rId5" Type="http://schemas.openxmlformats.org/officeDocument/2006/relationships/image" Target="../media/image10.jpeg"/><Relationship Id="rId6" Type="http://schemas.openxmlformats.org/officeDocument/2006/relationships/image" Target="../media/image6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3.jpeg"/><Relationship Id="rId4" Type="http://schemas.openxmlformats.org/officeDocument/2006/relationships/image" Target="../media/image11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eg"/><Relationship Id="rId7" Type="http://schemas.openxmlformats.org/officeDocument/2006/relationships/image" Target="../media/image7.jpeg"/><Relationship Id="rId8" Type="http://schemas.openxmlformats.org/officeDocument/2006/relationships/image" Target="../media/image8.png"/><Relationship Id="rId9" Type="http://schemas.openxmlformats.org/officeDocument/2006/relationships/image" Target="../media/image9.svg"/><Relationship Id="rId10" Type="http://schemas.openxmlformats.org/officeDocument/2006/relationships/image" Target="../media/image6.jpeg"/><Relationship Id="rId11" Type="http://schemas.openxmlformats.org/officeDocument/2006/relationships/image" Target="../media/image16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94230" y="3634253"/>
            <a:ext cx="12499541" cy="11658662"/>
          </a:xfrm>
          <a:custGeom>
            <a:avLst/>
            <a:gdLst/>
            <a:ahLst/>
            <a:cxnLst/>
            <a:rect r="r" b="b" t="t" l="l"/>
            <a:pathLst>
              <a:path h="11658662" w="12499541">
                <a:moveTo>
                  <a:pt x="0" y="0"/>
                </a:moveTo>
                <a:lnTo>
                  <a:pt x="12499540" y="0"/>
                </a:lnTo>
                <a:lnTo>
                  <a:pt x="12499540" y="11658662"/>
                </a:lnTo>
                <a:lnTo>
                  <a:pt x="0" y="11658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11068718" y="4101090"/>
            <a:ext cx="2776274" cy="277627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138" y="0"/>
                  </a:moveTo>
                  <a:lnTo>
                    <a:pt x="748662" y="0"/>
                  </a:lnTo>
                  <a:cubicBezTo>
                    <a:pt x="765673" y="0"/>
                    <a:pt x="781986" y="6757"/>
                    <a:pt x="794014" y="18786"/>
                  </a:cubicBezTo>
                  <a:cubicBezTo>
                    <a:pt x="806043" y="30814"/>
                    <a:pt x="812800" y="47127"/>
                    <a:pt x="812800" y="64138"/>
                  </a:cubicBezTo>
                  <a:lnTo>
                    <a:pt x="812800" y="748662"/>
                  </a:lnTo>
                  <a:cubicBezTo>
                    <a:pt x="812800" y="765673"/>
                    <a:pt x="806043" y="781986"/>
                    <a:pt x="794014" y="794014"/>
                  </a:cubicBezTo>
                  <a:cubicBezTo>
                    <a:pt x="781986" y="806043"/>
                    <a:pt x="765673" y="812800"/>
                    <a:pt x="748662" y="812800"/>
                  </a:cubicBezTo>
                  <a:lnTo>
                    <a:pt x="64138" y="812800"/>
                  </a:lnTo>
                  <a:cubicBezTo>
                    <a:pt x="47127" y="812800"/>
                    <a:pt x="30814" y="806043"/>
                    <a:pt x="18786" y="794014"/>
                  </a:cubicBezTo>
                  <a:cubicBezTo>
                    <a:pt x="6757" y="781986"/>
                    <a:pt x="0" y="765673"/>
                    <a:pt x="0" y="748662"/>
                  </a:cubicBezTo>
                  <a:lnTo>
                    <a:pt x="0" y="64138"/>
                  </a:lnTo>
                  <a:cubicBezTo>
                    <a:pt x="0" y="47127"/>
                    <a:pt x="6757" y="30814"/>
                    <a:pt x="18786" y="18786"/>
                  </a:cubicBezTo>
                  <a:cubicBezTo>
                    <a:pt x="30814" y="6757"/>
                    <a:pt x="47127" y="0"/>
                    <a:pt x="64138" y="0"/>
                  </a:cubicBezTo>
                  <a:close/>
                </a:path>
              </a:pathLst>
            </a:custGeom>
            <a:blipFill>
              <a:blip r:embed="rId4"/>
              <a:stretch>
                <a:fillRect l="-32831" t="0" r="-32831" b="0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4253731" y="7252119"/>
            <a:ext cx="2776274" cy="277627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138" y="0"/>
                  </a:moveTo>
                  <a:lnTo>
                    <a:pt x="748662" y="0"/>
                  </a:lnTo>
                  <a:cubicBezTo>
                    <a:pt x="765673" y="0"/>
                    <a:pt x="781986" y="6757"/>
                    <a:pt x="794014" y="18786"/>
                  </a:cubicBezTo>
                  <a:cubicBezTo>
                    <a:pt x="806043" y="30814"/>
                    <a:pt x="812800" y="47127"/>
                    <a:pt x="812800" y="64138"/>
                  </a:cubicBezTo>
                  <a:lnTo>
                    <a:pt x="812800" y="748662"/>
                  </a:lnTo>
                  <a:cubicBezTo>
                    <a:pt x="812800" y="765673"/>
                    <a:pt x="806043" y="781986"/>
                    <a:pt x="794014" y="794014"/>
                  </a:cubicBezTo>
                  <a:cubicBezTo>
                    <a:pt x="781986" y="806043"/>
                    <a:pt x="765673" y="812800"/>
                    <a:pt x="748662" y="812800"/>
                  </a:cubicBezTo>
                  <a:lnTo>
                    <a:pt x="64138" y="812800"/>
                  </a:lnTo>
                  <a:cubicBezTo>
                    <a:pt x="47127" y="812800"/>
                    <a:pt x="30814" y="806043"/>
                    <a:pt x="18786" y="794014"/>
                  </a:cubicBezTo>
                  <a:cubicBezTo>
                    <a:pt x="6757" y="781986"/>
                    <a:pt x="0" y="765673"/>
                    <a:pt x="0" y="748662"/>
                  </a:cubicBezTo>
                  <a:lnTo>
                    <a:pt x="0" y="64138"/>
                  </a:lnTo>
                  <a:cubicBezTo>
                    <a:pt x="0" y="47127"/>
                    <a:pt x="6757" y="30814"/>
                    <a:pt x="18786" y="18786"/>
                  </a:cubicBezTo>
                  <a:cubicBezTo>
                    <a:pt x="30814" y="6757"/>
                    <a:pt x="47127" y="0"/>
                    <a:pt x="64138" y="0"/>
                  </a:cubicBezTo>
                  <a:close/>
                </a:path>
              </a:pathLst>
            </a:custGeom>
            <a:blipFill>
              <a:blip r:embed="rId5"/>
              <a:stretch>
                <a:fillRect l="-10850" t="0" r="-39149" b="0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6788262" y="4442718"/>
            <a:ext cx="4711475" cy="9322463"/>
            <a:chOff x="0" y="0"/>
            <a:chExt cx="2620010" cy="51841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/>
          </p:txBody>
        </p:sp>
        <p:sp>
          <p:nvSpPr>
            <p:cNvPr name="Freeform 9" id="9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11"/>
              <a:stretch>
                <a:fillRect l="-22234" t="0" r="-22234" b="0"/>
              </a:stretch>
            </a:blipFill>
          </p:spPr>
          <p:txBody>
            <a:bodyPr/>
            <a:p/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p/>
          </p:txBody>
        </p:sp>
        <p:sp>
          <p:nvSpPr>
            <p:cNvPr name="Freeform 11" id="11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p/>
          </p:txBody>
        </p:sp>
        <p:sp>
          <p:nvSpPr>
            <p:cNvPr name="Freeform 12" id="1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p/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p/>
          </p:txBody>
        </p:sp>
        <p:sp>
          <p:nvSpPr>
            <p:cNvPr name="Freeform 14" id="1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p/>
          </p:txBody>
        </p:sp>
        <p:sp>
          <p:nvSpPr>
            <p:cNvPr name="Freeform 15" id="1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p/>
          </p:txBody>
        </p:sp>
        <p:sp>
          <p:nvSpPr>
            <p:cNvPr name="Freeform 16" id="1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492661" y="7068907"/>
            <a:ext cx="2776274" cy="277627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138" y="0"/>
                  </a:moveTo>
                  <a:lnTo>
                    <a:pt x="748662" y="0"/>
                  </a:lnTo>
                  <a:cubicBezTo>
                    <a:pt x="765673" y="0"/>
                    <a:pt x="781986" y="6757"/>
                    <a:pt x="794014" y="18786"/>
                  </a:cubicBezTo>
                  <a:cubicBezTo>
                    <a:pt x="806043" y="30814"/>
                    <a:pt x="812800" y="47127"/>
                    <a:pt x="812800" y="64138"/>
                  </a:cubicBezTo>
                  <a:lnTo>
                    <a:pt x="812800" y="748662"/>
                  </a:lnTo>
                  <a:cubicBezTo>
                    <a:pt x="812800" y="765673"/>
                    <a:pt x="806043" y="781986"/>
                    <a:pt x="794014" y="794014"/>
                  </a:cubicBezTo>
                  <a:cubicBezTo>
                    <a:pt x="781986" y="806043"/>
                    <a:pt x="765673" y="812800"/>
                    <a:pt x="748662" y="812800"/>
                  </a:cubicBezTo>
                  <a:lnTo>
                    <a:pt x="64138" y="812800"/>
                  </a:lnTo>
                  <a:cubicBezTo>
                    <a:pt x="47127" y="812800"/>
                    <a:pt x="30814" y="806043"/>
                    <a:pt x="18786" y="794014"/>
                  </a:cubicBezTo>
                  <a:cubicBezTo>
                    <a:pt x="6757" y="781986"/>
                    <a:pt x="0" y="765673"/>
                    <a:pt x="0" y="748662"/>
                  </a:cubicBezTo>
                  <a:lnTo>
                    <a:pt x="0" y="64138"/>
                  </a:lnTo>
                  <a:cubicBezTo>
                    <a:pt x="0" y="47127"/>
                    <a:pt x="6757" y="30814"/>
                    <a:pt x="18786" y="18786"/>
                  </a:cubicBezTo>
                  <a:cubicBezTo>
                    <a:pt x="30814" y="6757"/>
                    <a:pt x="47127" y="0"/>
                    <a:pt x="64138" y="0"/>
                  </a:cubicBezTo>
                  <a:close/>
                </a:path>
              </a:pathLst>
            </a:custGeom>
            <a:blipFill>
              <a:blip r:embed="rId7"/>
              <a:stretch>
                <a:fillRect l="-24955" t="-33468" r="-75247" b="0"/>
              </a:stretch>
            </a:blipFill>
          </p:spPr>
          <p:txBody>
            <a:bodyPr/>
            <a:p/>
          </p:txBody>
        </p:sp>
      </p:grpSp>
      <p:grpSp>
        <p:nvGrpSpPr>
          <p:cNvPr name="Group 19" id="19"/>
          <p:cNvGrpSpPr/>
          <p:nvPr/>
        </p:nvGrpSpPr>
        <p:grpSpPr>
          <a:xfrm rot="0">
            <a:off x="3865683" y="5489227"/>
            <a:ext cx="3552372" cy="799492"/>
            <a:chOff x="0" y="0"/>
            <a:chExt cx="1805752" cy="406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05752" cy="406400"/>
            </a:xfrm>
            <a:custGeom>
              <a:avLst/>
              <a:gdLst/>
              <a:ahLst/>
              <a:cxnLst/>
              <a:rect r="r" b="b" t="t" l="l"/>
              <a:pathLst>
                <a:path h="406400" w="1805752">
                  <a:moveTo>
                    <a:pt x="1602552" y="0"/>
                  </a:moveTo>
                  <a:cubicBezTo>
                    <a:pt x="1714776" y="0"/>
                    <a:pt x="1805752" y="90976"/>
                    <a:pt x="1805752" y="203200"/>
                  </a:cubicBezTo>
                  <a:cubicBezTo>
                    <a:pt x="1805752" y="315424"/>
                    <a:pt x="1714776" y="406400"/>
                    <a:pt x="1602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4521E"/>
            </a:solidFill>
          </p:spPr>
          <p:txBody>
            <a:bodyPr/>
            <a:p/>
          </p:txBody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8057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006138" y="7816927"/>
            <a:ext cx="3996260" cy="1646657"/>
            <a:chOff x="0" y="0"/>
            <a:chExt cx="1169971" cy="48208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69971" cy="482086"/>
            </a:xfrm>
            <a:custGeom>
              <a:avLst/>
              <a:gdLst/>
              <a:ahLst/>
              <a:cxnLst/>
              <a:rect r="r" b="b" t="t" l="l"/>
              <a:pathLst>
                <a:path h="482086" w="1169971">
                  <a:moveTo>
                    <a:pt x="44558" y="0"/>
                  </a:moveTo>
                  <a:lnTo>
                    <a:pt x="1125414" y="0"/>
                  </a:lnTo>
                  <a:cubicBezTo>
                    <a:pt x="1137231" y="0"/>
                    <a:pt x="1148564" y="4694"/>
                    <a:pt x="1156921" y="13051"/>
                  </a:cubicBezTo>
                  <a:cubicBezTo>
                    <a:pt x="1165277" y="21407"/>
                    <a:pt x="1169971" y="32740"/>
                    <a:pt x="1169971" y="44558"/>
                  </a:cubicBezTo>
                  <a:lnTo>
                    <a:pt x="1169971" y="437528"/>
                  </a:lnTo>
                  <a:cubicBezTo>
                    <a:pt x="1169971" y="449346"/>
                    <a:pt x="1165277" y="460679"/>
                    <a:pt x="1156921" y="469035"/>
                  </a:cubicBezTo>
                  <a:cubicBezTo>
                    <a:pt x="1148564" y="477391"/>
                    <a:pt x="1137231" y="482086"/>
                    <a:pt x="1125414" y="482086"/>
                  </a:cubicBezTo>
                  <a:lnTo>
                    <a:pt x="44558" y="482086"/>
                  </a:lnTo>
                  <a:cubicBezTo>
                    <a:pt x="32740" y="482086"/>
                    <a:pt x="21407" y="477391"/>
                    <a:pt x="13051" y="469035"/>
                  </a:cubicBezTo>
                  <a:cubicBezTo>
                    <a:pt x="4694" y="460679"/>
                    <a:pt x="0" y="449346"/>
                    <a:pt x="0" y="437528"/>
                  </a:cubicBezTo>
                  <a:lnTo>
                    <a:pt x="0" y="44558"/>
                  </a:lnTo>
                  <a:cubicBezTo>
                    <a:pt x="0" y="32740"/>
                    <a:pt x="4694" y="21407"/>
                    <a:pt x="13051" y="13051"/>
                  </a:cubicBezTo>
                  <a:cubicBezTo>
                    <a:pt x="21407" y="4694"/>
                    <a:pt x="32740" y="0"/>
                    <a:pt x="44558" y="0"/>
                  </a:cubicBezTo>
                  <a:close/>
                </a:path>
              </a:pathLst>
            </a:custGeom>
            <a:solidFill>
              <a:srgbClr val="2E7D40"/>
            </a:solidFill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822709" y="4292633"/>
            <a:ext cx="2776274" cy="2776274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138" y="0"/>
                  </a:moveTo>
                  <a:lnTo>
                    <a:pt x="748662" y="0"/>
                  </a:lnTo>
                  <a:cubicBezTo>
                    <a:pt x="765673" y="0"/>
                    <a:pt x="781986" y="6757"/>
                    <a:pt x="794014" y="18786"/>
                  </a:cubicBezTo>
                  <a:cubicBezTo>
                    <a:pt x="806043" y="30814"/>
                    <a:pt x="812800" y="47127"/>
                    <a:pt x="812800" y="64138"/>
                  </a:cubicBezTo>
                  <a:lnTo>
                    <a:pt x="812800" y="748662"/>
                  </a:lnTo>
                  <a:cubicBezTo>
                    <a:pt x="812800" y="765673"/>
                    <a:pt x="806043" y="781986"/>
                    <a:pt x="794014" y="794014"/>
                  </a:cubicBezTo>
                  <a:cubicBezTo>
                    <a:pt x="781986" y="806043"/>
                    <a:pt x="765673" y="812800"/>
                    <a:pt x="748662" y="812800"/>
                  </a:cubicBezTo>
                  <a:lnTo>
                    <a:pt x="64138" y="812800"/>
                  </a:lnTo>
                  <a:cubicBezTo>
                    <a:pt x="47127" y="812800"/>
                    <a:pt x="30814" y="806043"/>
                    <a:pt x="18786" y="794014"/>
                  </a:cubicBezTo>
                  <a:cubicBezTo>
                    <a:pt x="6757" y="781986"/>
                    <a:pt x="0" y="765673"/>
                    <a:pt x="0" y="748662"/>
                  </a:cubicBezTo>
                  <a:lnTo>
                    <a:pt x="0" y="64138"/>
                  </a:lnTo>
                  <a:cubicBezTo>
                    <a:pt x="0" y="47127"/>
                    <a:pt x="6757" y="30814"/>
                    <a:pt x="18786" y="18786"/>
                  </a:cubicBezTo>
                  <a:cubicBezTo>
                    <a:pt x="30814" y="6757"/>
                    <a:pt x="47127" y="0"/>
                    <a:pt x="64138" y="0"/>
                  </a:cubicBezTo>
                  <a:close/>
                </a:path>
              </a:pathLst>
            </a:custGeom>
            <a:blipFill>
              <a:blip r:embed="rId8"/>
              <a:stretch>
                <a:fillRect l="-25046" t="0" r="-25046" b="0"/>
              </a:stretch>
            </a:blipFill>
          </p:spPr>
          <p:txBody>
            <a:bodyPr/>
            <a:p/>
          </p:txBody>
        </p:sp>
      </p:grpSp>
      <p:grpSp>
        <p:nvGrpSpPr>
          <p:cNvPr name="Group 26" id="26"/>
          <p:cNvGrpSpPr/>
          <p:nvPr/>
        </p:nvGrpSpPr>
        <p:grpSpPr>
          <a:xfrm rot="0">
            <a:off x="2822300" y="3947387"/>
            <a:ext cx="1256120" cy="1256120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72574" y="0"/>
                  </a:moveTo>
                  <a:lnTo>
                    <a:pt x="640226" y="0"/>
                  </a:lnTo>
                  <a:cubicBezTo>
                    <a:pt x="735536" y="0"/>
                    <a:pt x="812800" y="77264"/>
                    <a:pt x="812800" y="172574"/>
                  </a:cubicBezTo>
                  <a:lnTo>
                    <a:pt x="812800" y="640226"/>
                  </a:lnTo>
                  <a:cubicBezTo>
                    <a:pt x="812800" y="735536"/>
                    <a:pt x="735536" y="812800"/>
                    <a:pt x="640226" y="812800"/>
                  </a:cubicBezTo>
                  <a:lnTo>
                    <a:pt x="172574" y="812800"/>
                  </a:lnTo>
                  <a:cubicBezTo>
                    <a:pt x="77264" y="812800"/>
                    <a:pt x="0" y="735536"/>
                    <a:pt x="0" y="640226"/>
                  </a:cubicBezTo>
                  <a:lnTo>
                    <a:pt x="0" y="172574"/>
                  </a:lnTo>
                  <a:cubicBezTo>
                    <a:pt x="0" y="77264"/>
                    <a:pt x="77264" y="0"/>
                    <a:pt x="172574" y="0"/>
                  </a:cubicBezTo>
                  <a:close/>
                </a:path>
              </a:pathLst>
            </a:custGeom>
            <a:solidFill>
              <a:srgbClr val="1A5C2A"/>
            </a:solidFill>
          </p:spPr>
          <p:txBody>
            <a:bodyPr/>
            <a:p/>
          </p:txBody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502264" y="5710587"/>
            <a:ext cx="2279209" cy="356771"/>
            <a:chOff x="0" y="0"/>
            <a:chExt cx="3038946" cy="475695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499090" cy="475695"/>
              <a:chOff x="0" y="0"/>
              <a:chExt cx="812800" cy="7747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/>
            </p:txBody>
          </p:sp>
          <p:sp>
            <p:nvSpPr>
              <p:cNvPr name="TextBox 32" id="32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624924" y="0"/>
              <a:ext cx="499090" cy="475695"/>
              <a:chOff x="0" y="0"/>
              <a:chExt cx="812800" cy="7747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/>
            </p:txBody>
          </p:sp>
          <p:sp>
            <p:nvSpPr>
              <p:cNvPr name="TextBox 35" id="35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1288842" y="0"/>
              <a:ext cx="499090" cy="475695"/>
              <a:chOff x="0" y="0"/>
              <a:chExt cx="812800" cy="7747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/>
            </p:txBody>
          </p:sp>
          <p:sp>
            <p:nvSpPr>
              <p:cNvPr name="TextBox 38" id="38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913766" y="0"/>
              <a:ext cx="499090" cy="475695"/>
              <a:chOff x="0" y="0"/>
              <a:chExt cx="812800" cy="7747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/>
            </p:txBody>
          </p:sp>
          <p:sp>
            <p:nvSpPr>
              <p:cNvPr name="TextBox 41" id="41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2539856" y="0"/>
              <a:ext cx="499090" cy="475695"/>
              <a:chOff x="0" y="0"/>
              <a:chExt cx="812800" cy="7747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/>
            </p:txBody>
          </p:sp>
          <p:sp>
            <p:nvSpPr>
              <p:cNvPr name="TextBox 44" id="44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45" id="45"/>
          <p:cNvSpPr/>
          <p:nvPr/>
        </p:nvSpPr>
        <p:spPr>
          <a:xfrm flipH="false" flipV="false" rot="0">
            <a:off x="2970659" y="4095746"/>
            <a:ext cx="959403" cy="959403"/>
          </a:xfrm>
          <a:custGeom>
            <a:avLst/>
            <a:gdLst/>
            <a:ahLst/>
            <a:cxnLst/>
            <a:rect r="r" b="b" t="t" l="l"/>
            <a:pathLst>
              <a:path h="959403" w="959403">
                <a:moveTo>
                  <a:pt x="0" y="0"/>
                </a:moveTo>
                <a:lnTo>
                  <a:pt x="959403" y="0"/>
                </a:lnTo>
                <a:lnTo>
                  <a:pt x="959403" y="959403"/>
                </a:lnTo>
                <a:lnTo>
                  <a:pt x="0" y="9594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6" id="46"/>
          <p:cNvSpPr txBox="true"/>
          <p:nvPr/>
        </p:nvSpPr>
        <p:spPr>
          <a:xfrm rot="0">
            <a:off x="3795339" y="1592122"/>
            <a:ext cx="10697322" cy="1413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8"/>
              </a:lnSpc>
            </a:pPr>
            <a:r>
              <a:rPr lang="en-US" sz="4715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Des repas par abonnement, pour mieux nourrir l’Afrique de l’Ouest</a:t>
            </a:r>
            <a:r>
              <a:rPr lang="en-US" b="true" sz="4715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/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28700" y="554947"/>
            <a:ext cx="3049721" cy="37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Juna ( junaeats.com )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745496" y="554947"/>
            <a:ext cx="251380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Pitch deck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270986" y="8641744"/>
            <a:ext cx="3189394" cy="616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6"/>
              </a:lnSpc>
            </a:pPr>
            <a:r>
              <a:rPr lang="en-US" sz="3476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 2026  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324578" y="8573323"/>
            <a:ext cx="3385466" cy="530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8"/>
              </a:lnSpc>
            </a:pPr>
            <a:r>
              <a:rPr lang="en-US" sz="183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Votre solution d’abonnement repas</a:t>
            </a:r>
            <a:r>
              <a:rPr lang="en-US" sz="183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/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324578" y="8127793"/>
            <a:ext cx="3372423" cy="445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973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Juna</a:t>
            </a:r>
            <a:r>
              <a:rPr lang="en-US" sz="2973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939948"/>
            <a:ext cx="4787601" cy="799492"/>
            <a:chOff x="0" y="0"/>
            <a:chExt cx="2433647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3647" cy="406400"/>
            </a:xfrm>
            <a:custGeom>
              <a:avLst/>
              <a:gdLst/>
              <a:ahLst/>
              <a:cxnLst/>
              <a:rect r="r" b="b" t="t" l="l"/>
              <a:pathLst>
                <a:path h="406400" w="2433647">
                  <a:moveTo>
                    <a:pt x="2230447" y="0"/>
                  </a:moveTo>
                  <a:cubicBezTo>
                    <a:pt x="2342671" y="0"/>
                    <a:pt x="2433647" y="90976"/>
                    <a:pt x="2433647" y="203200"/>
                  </a:cubicBezTo>
                  <a:cubicBezTo>
                    <a:pt x="2433647" y="315424"/>
                    <a:pt x="2342671" y="406400"/>
                    <a:pt x="223044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4521E"/>
            </a:solid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364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35102" y="3141124"/>
            <a:ext cx="2217178" cy="441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1"/>
              </a:lnSpc>
            </a:pPr>
            <a:r>
              <a:rPr lang="en-US" sz="296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À propos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577962" y="3131599"/>
            <a:ext cx="825560" cy="451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94"/>
              </a:lnSpc>
            </a:pPr>
            <a:r>
              <a:rPr lang="en-US" sz="302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4422959"/>
            <a:ext cx="4787601" cy="799492"/>
            <a:chOff x="0" y="0"/>
            <a:chExt cx="2433647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3647" cy="406400"/>
            </a:xfrm>
            <a:custGeom>
              <a:avLst/>
              <a:gdLst/>
              <a:ahLst/>
              <a:cxnLst/>
              <a:rect r="r" b="b" t="t" l="l"/>
              <a:pathLst>
                <a:path h="406400" w="2433647">
                  <a:moveTo>
                    <a:pt x="2230447" y="0"/>
                  </a:moveTo>
                  <a:cubicBezTo>
                    <a:pt x="2342671" y="0"/>
                    <a:pt x="2433647" y="90976"/>
                    <a:pt x="2433647" y="203200"/>
                  </a:cubicBezTo>
                  <a:cubicBezTo>
                    <a:pt x="2433647" y="315424"/>
                    <a:pt x="2342671" y="406400"/>
                    <a:pt x="223044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E7D40"/>
            </a:solid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43364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435102" y="4624135"/>
            <a:ext cx="2759394" cy="441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1"/>
              </a:lnSpc>
            </a:pPr>
            <a:r>
              <a:rPr lang="en-US" sz="296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L’application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77962" y="4614610"/>
            <a:ext cx="825560" cy="451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94"/>
              </a:lnSpc>
            </a:pPr>
            <a:r>
              <a:rPr lang="en-US" sz="302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8700" y="5905970"/>
            <a:ext cx="4787601" cy="799492"/>
            <a:chOff x="0" y="0"/>
            <a:chExt cx="2433647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3647" cy="406400"/>
            </a:xfrm>
            <a:custGeom>
              <a:avLst/>
              <a:gdLst/>
              <a:ahLst/>
              <a:cxnLst/>
              <a:rect r="r" b="b" t="t" l="l"/>
              <a:pathLst>
                <a:path h="406400" w="2433647">
                  <a:moveTo>
                    <a:pt x="2230447" y="0"/>
                  </a:moveTo>
                  <a:cubicBezTo>
                    <a:pt x="2342671" y="0"/>
                    <a:pt x="2433647" y="90976"/>
                    <a:pt x="2433647" y="203200"/>
                  </a:cubicBezTo>
                  <a:cubicBezTo>
                    <a:pt x="2433647" y="315424"/>
                    <a:pt x="2342671" y="406400"/>
                    <a:pt x="223044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A5C2A"/>
            </a:solidFill>
          </p:spPr>
          <p:txBody>
            <a:bodyPr/>
            <a:p/>
          </p:txBody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43364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435102" y="6107146"/>
            <a:ext cx="2217178" cy="441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1"/>
              </a:lnSpc>
            </a:pPr>
            <a:r>
              <a:rPr lang="en-US" sz="296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Nos abonnements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577962" y="6097621"/>
            <a:ext cx="825560" cy="451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94"/>
              </a:lnSpc>
            </a:pPr>
            <a:r>
              <a:rPr lang="en-US" sz="302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08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8822543" y="1232044"/>
            <a:ext cx="12499541" cy="11658662"/>
          </a:xfrm>
          <a:custGeom>
            <a:avLst/>
            <a:gdLst/>
            <a:ahLst/>
            <a:cxnLst/>
            <a:rect r="r" b="b" t="t" l="l"/>
            <a:pathLst>
              <a:path h="11658662" w="12499541">
                <a:moveTo>
                  <a:pt x="0" y="0"/>
                </a:moveTo>
                <a:lnTo>
                  <a:pt x="12499541" y="0"/>
                </a:lnTo>
                <a:lnTo>
                  <a:pt x="12499541" y="11658662"/>
                </a:lnTo>
                <a:lnTo>
                  <a:pt x="0" y="11658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8" id="18"/>
          <p:cNvSpPr txBox="true"/>
          <p:nvPr/>
        </p:nvSpPr>
        <p:spPr>
          <a:xfrm rot="0">
            <a:off x="1028700" y="1381125"/>
            <a:ext cx="9341781" cy="737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8"/>
              </a:lnSpc>
            </a:pPr>
            <a:r>
              <a:rPr lang="en-US" sz="4715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Sommaire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909588" y="2046431"/>
            <a:ext cx="2776274" cy="277627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138" y="0"/>
                  </a:moveTo>
                  <a:lnTo>
                    <a:pt x="748662" y="0"/>
                  </a:lnTo>
                  <a:cubicBezTo>
                    <a:pt x="765673" y="0"/>
                    <a:pt x="781986" y="6757"/>
                    <a:pt x="794014" y="18786"/>
                  </a:cubicBezTo>
                  <a:cubicBezTo>
                    <a:pt x="806043" y="30814"/>
                    <a:pt x="812800" y="47127"/>
                    <a:pt x="812800" y="64138"/>
                  </a:cubicBezTo>
                  <a:lnTo>
                    <a:pt x="812800" y="748662"/>
                  </a:lnTo>
                  <a:cubicBezTo>
                    <a:pt x="812800" y="765673"/>
                    <a:pt x="806043" y="781986"/>
                    <a:pt x="794014" y="794014"/>
                  </a:cubicBezTo>
                  <a:cubicBezTo>
                    <a:pt x="781986" y="806043"/>
                    <a:pt x="765673" y="812800"/>
                    <a:pt x="748662" y="812800"/>
                  </a:cubicBezTo>
                  <a:lnTo>
                    <a:pt x="64138" y="812800"/>
                  </a:lnTo>
                  <a:cubicBezTo>
                    <a:pt x="47127" y="812800"/>
                    <a:pt x="30814" y="806043"/>
                    <a:pt x="18786" y="794014"/>
                  </a:cubicBezTo>
                  <a:cubicBezTo>
                    <a:pt x="6757" y="781986"/>
                    <a:pt x="0" y="765673"/>
                    <a:pt x="0" y="748662"/>
                  </a:cubicBezTo>
                  <a:lnTo>
                    <a:pt x="0" y="64138"/>
                  </a:lnTo>
                  <a:cubicBezTo>
                    <a:pt x="0" y="47127"/>
                    <a:pt x="6757" y="30814"/>
                    <a:pt x="18786" y="18786"/>
                  </a:cubicBezTo>
                  <a:cubicBezTo>
                    <a:pt x="30814" y="6757"/>
                    <a:pt x="47127" y="0"/>
                    <a:pt x="64138" y="0"/>
                  </a:cubicBezTo>
                  <a:close/>
                </a:path>
              </a:pathLst>
            </a:custGeom>
            <a:blipFill>
              <a:blip r:embed="rId4"/>
              <a:stretch>
                <a:fillRect l="-32831" t="0" r="-32831" b="0"/>
              </a:stretch>
            </a:blipFill>
          </p:spPr>
          <p:txBody>
            <a:bodyPr/>
            <a:p/>
          </p:txBody>
        </p:sp>
      </p:grpSp>
      <p:grpSp>
        <p:nvGrpSpPr>
          <p:cNvPr name="Group 21" id="21"/>
          <p:cNvGrpSpPr/>
          <p:nvPr/>
        </p:nvGrpSpPr>
        <p:grpSpPr>
          <a:xfrm rot="0">
            <a:off x="9850065" y="3773149"/>
            <a:ext cx="2776274" cy="2776274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138" y="0"/>
                  </a:moveTo>
                  <a:lnTo>
                    <a:pt x="748662" y="0"/>
                  </a:lnTo>
                  <a:cubicBezTo>
                    <a:pt x="765673" y="0"/>
                    <a:pt x="781986" y="6757"/>
                    <a:pt x="794014" y="18786"/>
                  </a:cubicBezTo>
                  <a:cubicBezTo>
                    <a:pt x="806043" y="30814"/>
                    <a:pt x="812800" y="47127"/>
                    <a:pt x="812800" y="64138"/>
                  </a:cubicBezTo>
                  <a:lnTo>
                    <a:pt x="812800" y="748662"/>
                  </a:lnTo>
                  <a:cubicBezTo>
                    <a:pt x="812800" y="765673"/>
                    <a:pt x="806043" y="781986"/>
                    <a:pt x="794014" y="794014"/>
                  </a:cubicBezTo>
                  <a:cubicBezTo>
                    <a:pt x="781986" y="806043"/>
                    <a:pt x="765673" y="812800"/>
                    <a:pt x="748662" y="812800"/>
                  </a:cubicBezTo>
                  <a:lnTo>
                    <a:pt x="64138" y="812800"/>
                  </a:lnTo>
                  <a:cubicBezTo>
                    <a:pt x="47127" y="812800"/>
                    <a:pt x="30814" y="806043"/>
                    <a:pt x="18786" y="794014"/>
                  </a:cubicBezTo>
                  <a:cubicBezTo>
                    <a:pt x="6757" y="781986"/>
                    <a:pt x="0" y="765673"/>
                    <a:pt x="0" y="748662"/>
                  </a:cubicBezTo>
                  <a:lnTo>
                    <a:pt x="0" y="64138"/>
                  </a:lnTo>
                  <a:cubicBezTo>
                    <a:pt x="0" y="47127"/>
                    <a:pt x="6757" y="30814"/>
                    <a:pt x="18786" y="18786"/>
                  </a:cubicBezTo>
                  <a:cubicBezTo>
                    <a:pt x="30814" y="6757"/>
                    <a:pt x="47127" y="0"/>
                    <a:pt x="64138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-49863" b="0"/>
              </a:stretch>
            </a:blipFill>
          </p:spPr>
          <p:txBody>
            <a:bodyPr/>
            <a:p/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969222" y="7870163"/>
            <a:ext cx="2776274" cy="2776274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138" y="0"/>
                  </a:moveTo>
                  <a:lnTo>
                    <a:pt x="748662" y="0"/>
                  </a:lnTo>
                  <a:cubicBezTo>
                    <a:pt x="765673" y="0"/>
                    <a:pt x="781986" y="6757"/>
                    <a:pt x="794014" y="18786"/>
                  </a:cubicBezTo>
                  <a:cubicBezTo>
                    <a:pt x="806043" y="30814"/>
                    <a:pt x="812800" y="47127"/>
                    <a:pt x="812800" y="64138"/>
                  </a:cubicBezTo>
                  <a:lnTo>
                    <a:pt x="812800" y="748662"/>
                  </a:lnTo>
                  <a:cubicBezTo>
                    <a:pt x="812800" y="765673"/>
                    <a:pt x="806043" y="781986"/>
                    <a:pt x="794014" y="794014"/>
                  </a:cubicBezTo>
                  <a:cubicBezTo>
                    <a:pt x="781986" y="806043"/>
                    <a:pt x="765673" y="812800"/>
                    <a:pt x="748662" y="812800"/>
                  </a:cubicBezTo>
                  <a:lnTo>
                    <a:pt x="64138" y="812800"/>
                  </a:lnTo>
                  <a:cubicBezTo>
                    <a:pt x="47127" y="812800"/>
                    <a:pt x="30814" y="806043"/>
                    <a:pt x="18786" y="794014"/>
                  </a:cubicBezTo>
                  <a:cubicBezTo>
                    <a:pt x="6757" y="781986"/>
                    <a:pt x="0" y="765673"/>
                    <a:pt x="0" y="748662"/>
                  </a:cubicBezTo>
                  <a:lnTo>
                    <a:pt x="0" y="64138"/>
                  </a:lnTo>
                  <a:cubicBezTo>
                    <a:pt x="0" y="47127"/>
                    <a:pt x="6757" y="30814"/>
                    <a:pt x="18786" y="18786"/>
                  </a:cubicBezTo>
                  <a:cubicBezTo>
                    <a:pt x="30814" y="6757"/>
                    <a:pt x="47127" y="0"/>
                    <a:pt x="64138" y="0"/>
                  </a:cubicBezTo>
                  <a:close/>
                </a:path>
              </a:pathLst>
            </a:custGeom>
            <a:blipFill>
              <a:blip r:embed="rId6"/>
              <a:stretch>
                <a:fillRect l="-25000" t="0" r="-25000" b="0"/>
              </a:stretch>
            </a:blip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357216" y="5281024"/>
            <a:ext cx="3552372" cy="799492"/>
            <a:chOff x="0" y="0"/>
            <a:chExt cx="4736495" cy="1065989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4736495" cy="1065989"/>
              <a:chOff x="0" y="0"/>
              <a:chExt cx="1805752" cy="4064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805752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1805752">
                    <a:moveTo>
                      <a:pt x="1602552" y="0"/>
                    </a:moveTo>
                    <a:cubicBezTo>
                      <a:pt x="1714776" y="0"/>
                      <a:pt x="1805752" y="90976"/>
                      <a:pt x="1805752" y="203200"/>
                    </a:cubicBezTo>
                    <a:cubicBezTo>
                      <a:pt x="1805752" y="315424"/>
                      <a:pt x="1714776" y="406400"/>
                      <a:pt x="1602552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4521E"/>
              </a:solidFill>
            </p:spPr>
            <p:txBody>
              <a:bodyPr/>
              <a:p/>
            </p:txBody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805752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848775" y="295147"/>
              <a:ext cx="499090" cy="475695"/>
              <a:chOff x="0" y="0"/>
              <a:chExt cx="812800" cy="7747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/>
            </p:txBody>
          </p:sp>
          <p:sp>
            <p:nvSpPr>
              <p:cNvPr name="TextBox 31" id="31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1473698" y="295147"/>
              <a:ext cx="499090" cy="475695"/>
              <a:chOff x="0" y="0"/>
              <a:chExt cx="812800" cy="7747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/>
            </p:txBody>
          </p:sp>
          <p:sp>
            <p:nvSpPr>
              <p:cNvPr name="TextBox 34" id="34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2137617" y="295147"/>
              <a:ext cx="499090" cy="475695"/>
              <a:chOff x="0" y="0"/>
              <a:chExt cx="812800" cy="7747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/>
            </p:txBody>
          </p:sp>
          <p:sp>
            <p:nvSpPr>
              <p:cNvPr name="TextBox 37" id="37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2762541" y="295147"/>
              <a:ext cx="499090" cy="475695"/>
              <a:chOff x="0" y="0"/>
              <a:chExt cx="812800" cy="7747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/>
            </p:txBody>
          </p:sp>
          <p:sp>
            <p:nvSpPr>
              <p:cNvPr name="TextBox 40" id="40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3388631" y="295147"/>
              <a:ext cx="499090" cy="475695"/>
              <a:chOff x="0" y="0"/>
              <a:chExt cx="812800" cy="7747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/>
            </p:txBody>
          </p:sp>
          <p:sp>
            <p:nvSpPr>
              <p:cNvPr name="TextBox 43" id="43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4" id="44"/>
          <p:cNvGrpSpPr/>
          <p:nvPr/>
        </p:nvGrpSpPr>
        <p:grpSpPr>
          <a:xfrm rot="0">
            <a:off x="14263526" y="7061375"/>
            <a:ext cx="1617576" cy="1617576"/>
            <a:chOff x="0" y="0"/>
            <a:chExt cx="2156768" cy="2156768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0" y="0"/>
              <a:ext cx="2156768" cy="2156768"/>
              <a:chOff x="0" y="0"/>
              <a:chExt cx="812800" cy="8128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134012" y="0"/>
                    </a:moveTo>
                    <a:lnTo>
                      <a:pt x="678789" y="0"/>
                    </a:lnTo>
                    <a:cubicBezTo>
                      <a:pt x="752801" y="0"/>
                      <a:pt x="812800" y="59999"/>
                      <a:pt x="812800" y="134012"/>
                    </a:cubicBezTo>
                    <a:lnTo>
                      <a:pt x="812800" y="678789"/>
                    </a:lnTo>
                    <a:cubicBezTo>
                      <a:pt x="812800" y="752801"/>
                      <a:pt x="752801" y="812800"/>
                      <a:pt x="678789" y="812800"/>
                    </a:cubicBezTo>
                    <a:lnTo>
                      <a:pt x="134012" y="812800"/>
                    </a:lnTo>
                    <a:cubicBezTo>
                      <a:pt x="59999" y="812800"/>
                      <a:pt x="0" y="752801"/>
                      <a:pt x="0" y="678789"/>
                    </a:cubicBezTo>
                    <a:lnTo>
                      <a:pt x="0" y="134012"/>
                    </a:lnTo>
                    <a:cubicBezTo>
                      <a:pt x="0" y="59999"/>
                      <a:pt x="59999" y="0"/>
                      <a:pt x="134012" y="0"/>
                    </a:cubicBezTo>
                    <a:close/>
                  </a:path>
                </a:pathLst>
              </a:custGeom>
              <a:solidFill>
                <a:srgbClr val="1A5C2A"/>
              </a:solidFill>
            </p:spPr>
            <p:txBody>
              <a:bodyPr/>
              <a:p/>
            </p:txBody>
          </p:sp>
          <p:sp>
            <p:nvSpPr>
              <p:cNvPr name="TextBox 47" id="47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48" id="48"/>
            <p:cNvSpPr/>
            <p:nvPr/>
          </p:nvSpPr>
          <p:spPr>
            <a:xfrm flipH="false" flipV="false" rot="0">
              <a:off x="353433" y="353433"/>
              <a:ext cx="1449901" cy="1449901"/>
            </a:xfrm>
            <a:custGeom>
              <a:avLst/>
              <a:gdLst/>
              <a:ahLst/>
              <a:cxnLst/>
              <a:rect r="r" b="b" t="t" l="l"/>
              <a:pathLst>
                <a:path h="1449901" w="1449901">
                  <a:moveTo>
                    <a:pt x="0" y="0"/>
                  </a:moveTo>
                  <a:lnTo>
                    <a:pt x="1449902" y="0"/>
                  </a:lnTo>
                  <a:lnTo>
                    <a:pt x="1449902" y="1449902"/>
                  </a:lnTo>
                  <a:lnTo>
                    <a:pt x="0" y="14499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49" id="49"/>
          <p:cNvSpPr txBox="true"/>
          <p:nvPr/>
        </p:nvSpPr>
        <p:spPr>
          <a:xfrm rot="0">
            <a:off x="1028700" y="554947"/>
            <a:ext cx="3014393" cy="37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Juna ( junaeats.com )</a:t>
            </a: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/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745496" y="554947"/>
            <a:ext cx="251380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Pitch deck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38263" y="1400175"/>
            <a:ext cx="12499541" cy="11658662"/>
          </a:xfrm>
          <a:custGeom>
            <a:avLst/>
            <a:gdLst/>
            <a:ahLst/>
            <a:cxnLst/>
            <a:rect r="r" b="b" t="t" l="l"/>
            <a:pathLst>
              <a:path h="11658662" w="12499541">
                <a:moveTo>
                  <a:pt x="0" y="0"/>
                </a:moveTo>
                <a:lnTo>
                  <a:pt x="12499541" y="0"/>
                </a:lnTo>
                <a:lnTo>
                  <a:pt x="12499541" y="11658662"/>
                </a:lnTo>
                <a:lnTo>
                  <a:pt x="0" y="11658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14924478" y="1745902"/>
            <a:ext cx="2776274" cy="277627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138" y="0"/>
                  </a:moveTo>
                  <a:lnTo>
                    <a:pt x="748662" y="0"/>
                  </a:lnTo>
                  <a:cubicBezTo>
                    <a:pt x="765673" y="0"/>
                    <a:pt x="781986" y="6757"/>
                    <a:pt x="794014" y="18786"/>
                  </a:cubicBezTo>
                  <a:cubicBezTo>
                    <a:pt x="806043" y="30814"/>
                    <a:pt x="812800" y="47127"/>
                    <a:pt x="812800" y="64138"/>
                  </a:cubicBezTo>
                  <a:lnTo>
                    <a:pt x="812800" y="748662"/>
                  </a:lnTo>
                  <a:cubicBezTo>
                    <a:pt x="812800" y="765673"/>
                    <a:pt x="806043" y="781986"/>
                    <a:pt x="794014" y="794014"/>
                  </a:cubicBezTo>
                  <a:cubicBezTo>
                    <a:pt x="781986" y="806043"/>
                    <a:pt x="765673" y="812800"/>
                    <a:pt x="748662" y="812800"/>
                  </a:cubicBezTo>
                  <a:lnTo>
                    <a:pt x="64138" y="812800"/>
                  </a:lnTo>
                  <a:cubicBezTo>
                    <a:pt x="47127" y="812800"/>
                    <a:pt x="30814" y="806043"/>
                    <a:pt x="18786" y="794014"/>
                  </a:cubicBezTo>
                  <a:cubicBezTo>
                    <a:pt x="6757" y="781986"/>
                    <a:pt x="0" y="765673"/>
                    <a:pt x="0" y="748662"/>
                  </a:cubicBezTo>
                  <a:lnTo>
                    <a:pt x="0" y="64138"/>
                  </a:lnTo>
                  <a:cubicBezTo>
                    <a:pt x="0" y="47127"/>
                    <a:pt x="6757" y="30814"/>
                    <a:pt x="18786" y="18786"/>
                  </a:cubicBezTo>
                  <a:cubicBezTo>
                    <a:pt x="30814" y="6757"/>
                    <a:pt x="47127" y="0"/>
                    <a:pt x="64138" y="0"/>
                  </a:cubicBezTo>
                  <a:close/>
                </a:path>
              </a:pathLst>
            </a:custGeom>
            <a:blipFill>
              <a:blip r:embed="rId4"/>
              <a:stretch>
                <a:fillRect l="-25000" t="0" r="-25000" b="0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2150179" y="3093337"/>
            <a:ext cx="4711475" cy="9322463"/>
            <a:chOff x="0" y="0"/>
            <a:chExt cx="2620010" cy="5184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/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/>
              <a:stretch>
                <a:fillRect l="-22234" t="0" r="-22234" b="0"/>
              </a:stretch>
            </a:blipFill>
          </p:spPr>
          <p:txBody>
            <a:bodyPr/>
            <a:p/>
          </p:txBody>
        </p:sp>
        <p:sp>
          <p:nvSpPr>
            <p:cNvPr name="Freeform 8" id="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p/>
          </p:txBody>
        </p:sp>
        <p:sp>
          <p:nvSpPr>
            <p:cNvPr name="Freeform 9" id="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p/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p/>
          </p:txBody>
        </p:sp>
        <p:sp>
          <p:nvSpPr>
            <p:cNvPr name="Freeform 11" id="1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p/>
          </p:txBody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p/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p/>
          </p:txBody>
        </p:sp>
        <p:sp>
          <p:nvSpPr>
            <p:cNvPr name="Freeform 14" id="1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p/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8700" y="1381125"/>
            <a:ext cx="9341781" cy="1413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8"/>
              </a:lnSpc>
            </a:pPr>
            <a:r>
              <a:rPr lang="en-US" sz="4715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Juna : une startup au service de l’alimentation locale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3124514"/>
            <a:ext cx="10223919" cy="3486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190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L’entreprise est née d’un constat simple :</a:t>
            </a:r>
          </a:p>
          <a:p>
            <a:pPr algn="l">
              <a:lnSpc>
                <a:spcPts val="2475"/>
              </a:lnSpc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les prestataires alimentaires locaux (cuisines, traiteurs, restaurateurs) produisent souvent sans aucune visibilité sur leur demande réelle.</a:t>
            </a:r>
          </a:p>
          <a:p>
            <a:pPr algn="l">
              <a:lnSpc>
                <a:spcPts val="2475"/>
              </a:lnSpc>
            </a:pPr>
          </a:p>
          <a:p>
            <a:pPr algn="l">
              <a:lnSpc>
                <a:spcPts val="2475"/>
              </a:lnSpc>
            </a:pPr>
          </a:p>
          <a:p>
            <a:pPr algn="l">
              <a:lnSpc>
                <a:spcPts val="2475"/>
              </a:lnSpc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Cette imprévisibilité entraîne souvent :</a:t>
            </a:r>
          </a:p>
          <a:p>
            <a:pPr algn="l" marL="472918" indent="-236459" lvl="1">
              <a:lnSpc>
                <a:spcPts val="2475"/>
              </a:lnSpc>
              <a:buFont typeface="Arial"/>
              <a:buChar char="•"/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 gaspillage alimentaire,</a:t>
            </a:r>
          </a:p>
          <a:p>
            <a:pPr algn="l" marL="472918" indent="-236459" lvl="1">
              <a:lnSpc>
                <a:spcPts val="2475"/>
              </a:lnSpc>
              <a:buFont typeface="Arial"/>
              <a:buChar char="•"/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 revenus instables,</a:t>
            </a:r>
          </a:p>
          <a:p>
            <a:pPr algn="l" marL="472918" indent="-236459" lvl="1">
              <a:lnSpc>
                <a:spcPts val="2475"/>
              </a:lnSpc>
              <a:buFont typeface="Arial"/>
              <a:buChar char="•"/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une mauvaise planification des achats,</a:t>
            </a:r>
          </a:p>
          <a:p>
            <a:pPr algn="l" marL="472918" indent="-236459" lvl="1">
              <a:lnSpc>
                <a:spcPts val="2475"/>
              </a:lnSpc>
              <a:buFont typeface="Arial"/>
              <a:buChar char="•"/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et une distribution alimentaire inefficace.</a:t>
            </a:r>
          </a:p>
          <a:p>
            <a:pPr algn="l">
              <a:lnSpc>
                <a:spcPts val="2475"/>
              </a:lnSpc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1028700" y="6953987"/>
            <a:ext cx="10223919" cy="2125111"/>
            <a:chOff x="0" y="0"/>
            <a:chExt cx="2993221" cy="62216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93221" cy="622161"/>
            </a:xfrm>
            <a:custGeom>
              <a:avLst/>
              <a:gdLst/>
              <a:ahLst/>
              <a:cxnLst/>
              <a:rect r="r" b="b" t="t" l="l"/>
              <a:pathLst>
                <a:path h="622161" w="2993221">
                  <a:moveTo>
                    <a:pt x="17416" y="0"/>
                  </a:moveTo>
                  <a:lnTo>
                    <a:pt x="2975805" y="0"/>
                  </a:lnTo>
                  <a:cubicBezTo>
                    <a:pt x="2985423" y="0"/>
                    <a:pt x="2993221" y="7798"/>
                    <a:pt x="2993221" y="17416"/>
                  </a:cubicBezTo>
                  <a:lnTo>
                    <a:pt x="2993221" y="604745"/>
                  </a:lnTo>
                  <a:cubicBezTo>
                    <a:pt x="2993221" y="614364"/>
                    <a:pt x="2985423" y="622161"/>
                    <a:pt x="2975805" y="622161"/>
                  </a:cubicBezTo>
                  <a:lnTo>
                    <a:pt x="17416" y="622161"/>
                  </a:lnTo>
                  <a:cubicBezTo>
                    <a:pt x="7798" y="622161"/>
                    <a:pt x="0" y="614364"/>
                    <a:pt x="0" y="604745"/>
                  </a:cubicBezTo>
                  <a:lnTo>
                    <a:pt x="0" y="17416"/>
                  </a:lnTo>
                  <a:cubicBezTo>
                    <a:pt x="0" y="7798"/>
                    <a:pt x="7798" y="0"/>
                    <a:pt x="17416" y="0"/>
                  </a:cubicBezTo>
                  <a:close/>
                </a:path>
              </a:pathLst>
            </a:custGeom>
            <a:solidFill>
              <a:srgbClr val="2E7D40"/>
            </a:solidFill>
          </p:spPr>
          <p:txBody>
            <a:bodyPr/>
            <a:p/>
          </p:txBody>
        </p:sp>
      </p:grpSp>
      <p:sp>
        <p:nvSpPr>
          <p:cNvPr name="TextBox 19" id="19"/>
          <p:cNvSpPr txBox="true"/>
          <p:nvPr/>
        </p:nvSpPr>
        <p:spPr>
          <a:xfrm rot="0">
            <a:off x="1422808" y="7802193"/>
            <a:ext cx="9309805" cy="971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Permettre aux producteurs, transformateurs, cuisines et restaurateurs de mieux prévoir la demande grâce aux abonnements, pour réduire le gaspillage et stabiliser leurs revenus.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22808" y="7287362"/>
            <a:ext cx="2712430" cy="467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3004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Notre mission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554947"/>
            <a:ext cx="3106538" cy="37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Juna ( junaeats.com 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745496" y="554947"/>
            <a:ext cx="251380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Pitch deck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381125"/>
            <a:ext cx="9341781" cy="1413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8"/>
              </a:lnSpc>
            </a:pPr>
            <a:r>
              <a:rPr lang="en-US" sz="4715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Un secteur alimentaire encore trop imprévisible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54947"/>
            <a:ext cx="3089481" cy="37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Juna ( junaeats.com )</a:t>
            </a: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/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745496" y="554947"/>
            <a:ext cx="251380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Pitch deck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93463" y="2457925"/>
            <a:ext cx="8822845" cy="7535612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9144000" y="3571451"/>
            <a:ext cx="8115300" cy="5686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Les prestataires alimentaires doivent aujourd’hui :</a:t>
            </a:r>
          </a:p>
          <a:p>
            <a:pPr algn="l">
              <a:lnSpc>
                <a:spcPts val="2475"/>
              </a:lnSpc>
            </a:pPr>
          </a:p>
          <a:p>
            <a:pPr algn="l" marL="472918" indent="-236459" lvl="1">
              <a:lnSpc>
                <a:spcPts val="2475"/>
              </a:lnSpc>
              <a:buFont typeface="Arial"/>
              <a:buChar char="•"/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produire sans connaître leur demande réelle,</a:t>
            </a:r>
          </a:p>
          <a:p>
            <a:pPr algn="l" marL="472918" indent="-236459" lvl="1">
              <a:lnSpc>
                <a:spcPts val="2475"/>
              </a:lnSpc>
              <a:buFont typeface="Arial"/>
              <a:buChar char="•"/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gérer des achats de matières premières incertains,</a:t>
            </a:r>
          </a:p>
          <a:p>
            <a:pPr algn="l" marL="472918" indent="-236459" lvl="1">
              <a:lnSpc>
                <a:spcPts val="2475"/>
              </a:lnSpc>
              <a:buFont typeface="Arial"/>
              <a:buChar char="•"/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répondre à une clientèle urbaine croissante,</a:t>
            </a:r>
          </a:p>
          <a:p>
            <a:pPr algn="l" marL="472918" indent="-236459" lvl="1">
              <a:lnSpc>
                <a:spcPts val="2475"/>
              </a:lnSpc>
              <a:buFont typeface="Arial"/>
              <a:buChar char="•"/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assurer une distribution fiable,</a:t>
            </a:r>
          </a:p>
          <a:p>
            <a:pPr algn="l" marL="472918" indent="-236459" lvl="1">
              <a:lnSpc>
                <a:spcPts val="2475"/>
              </a:lnSpc>
              <a:buFont typeface="Arial"/>
              <a:buChar char="•"/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et stabiliser des revenus souvent irréguliers.</a:t>
            </a:r>
          </a:p>
          <a:p>
            <a:pPr algn="l">
              <a:lnSpc>
                <a:spcPts val="2475"/>
              </a:lnSpc>
            </a:pPr>
          </a:p>
          <a:p>
            <a:pPr algn="l">
              <a:lnSpc>
                <a:spcPts val="2475"/>
              </a:lnSpc>
            </a:pPr>
          </a:p>
          <a:p>
            <a:pPr algn="l">
              <a:lnSpc>
                <a:spcPts val="2475"/>
              </a:lnSpc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Cependant, beaucoup de prestataires rencontrent les mêmes difficultés :</a:t>
            </a:r>
          </a:p>
          <a:p>
            <a:pPr algn="l">
              <a:lnSpc>
                <a:spcPts val="2475"/>
              </a:lnSpc>
            </a:pPr>
          </a:p>
          <a:p>
            <a:pPr algn="l" marL="472918" indent="-236459" lvl="1">
              <a:lnSpc>
                <a:spcPts val="2475"/>
              </a:lnSpc>
              <a:buFont typeface="Arial"/>
              <a:buChar char="•"/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surproduction et invendus,</a:t>
            </a:r>
          </a:p>
          <a:p>
            <a:pPr algn="l" marL="472918" indent="-236459" lvl="1">
              <a:lnSpc>
                <a:spcPts val="2475"/>
              </a:lnSpc>
              <a:buFont typeface="Arial"/>
              <a:buChar char="•"/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ruptures fréquentes,</a:t>
            </a:r>
          </a:p>
          <a:p>
            <a:pPr algn="l" marL="472918" indent="-236459" lvl="1">
              <a:lnSpc>
                <a:spcPts val="2475"/>
              </a:lnSpc>
              <a:buFont typeface="Arial"/>
              <a:buChar char="•"/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pertes financières récurrentes,</a:t>
            </a:r>
          </a:p>
          <a:p>
            <a:pPr algn="l" marL="472918" indent="-236459" lvl="1">
              <a:lnSpc>
                <a:spcPts val="2475"/>
              </a:lnSpc>
              <a:buFont typeface="Arial"/>
              <a:buChar char="•"/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absence de visibilité sur la demande,</a:t>
            </a:r>
          </a:p>
          <a:p>
            <a:pPr algn="l" marL="472918" indent="-236459" lvl="1">
              <a:lnSpc>
                <a:spcPts val="2475"/>
              </a:lnSpc>
              <a:buFont typeface="Arial"/>
              <a:buChar char="•"/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difficulté à planifier les approvisionnements.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94230" y="3634253"/>
            <a:ext cx="12499541" cy="11658662"/>
          </a:xfrm>
          <a:custGeom>
            <a:avLst/>
            <a:gdLst/>
            <a:ahLst/>
            <a:cxnLst/>
            <a:rect r="r" b="b" t="t" l="l"/>
            <a:pathLst>
              <a:path h="11658662" w="12499541">
                <a:moveTo>
                  <a:pt x="0" y="0"/>
                </a:moveTo>
                <a:lnTo>
                  <a:pt x="12499540" y="0"/>
                </a:lnTo>
                <a:lnTo>
                  <a:pt x="12499540" y="11658662"/>
                </a:lnTo>
                <a:lnTo>
                  <a:pt x="0" y="11658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14745496" y="4692379"/>
            <a:ext cx="2776274" cy="277627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138" y="0"/>
                  </a:moveTo>
                  <a:lnTo>
                    <a:pt x="748662" y="0"/>
                  </a:lnTo>
                  <a:cubicBezTo>
                    <a:pt x="765673" y="0"/>
                    <a:pt x="781986" y="6757"/>
                    <a:pt x="794014" y="18786"/>
                  </a:cubicBezTo>
                  <a:cubicBezTo>
                    <a:pt x="806043" y="30814"/>
                    <a:pt x="812800" y="47127"/>
                    <a:pt x="812800" y="64138"/>
                  </a:cubicBezTo>
                  <a:lnTo>
                    <a:pt x="812800" y="748662"/>
                  </a:lnTo>
                  <a:cubicBezTo>
                    <a:pt x="812800" y="765673"/>
                    <a:pt x="806043" y="781986"/>
                    <a:pt x="794014" y="794014"/>
                  </a:cubicBezTo>
                  <a:cubicBezTo>
                    <a:pt x="781986" y="806043"/>
                    <a:pt x="765673" y="812800"/>
                    <a:pt x="748662" y="812800"/>
                  </a:cubicBezTo>
                  <a:lnTo>
                    <a:pt x="64138" y="812800"/>
                  </a:lnTo>
                  <a:cubicBezTo>
                    <a:pt x="47127" y="812800"/>
                    <a:pt x="30814" y="806043"/>
                    <a:pt x="18786" y="794014"/>
                  </a:cubicBezTo>
                  <a:cubicBezTo>
                    <a:pt x="6757" y="781986"/>
                    <a:pt x="0" y="765673"/>
                    <a:pt x="0" y="748662"/>
                  </a:cubicBezTo>
                  <a:lnTo>
                    <a:pt x="0" y="64138"/>
                  </a:lnTo>
                  <a:cubicBezTo>
                    <a:pt x="0" y="47127"/>
                    <a:pt x="6757" y="30814"/>
                    <a:pt x="18786" y="18786"/>
                  </a:cubicBezTo>
                  <a:cubicBezTo>
                    <a:pt x="30814" y="6757"/>
                    <a:pt x="47127" y="0"/>
                    <a:pt x="64138" y="0"/>
                  </a:cubicBezTo>
                  <a:close/>
                </a:path>
              </a:pathLst>
            </a:custGeom>
            <a:blipFill>
              <a:blip r:embed="rId4"/>
              <a:stretch>
                <a:fillRect l="-32831" t="0" r="-32831" b="0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4156795" y="6327675"/>
            <a:ext cx="2776274" cy="277627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138" y="0"/>
                  </a:moveTo>
                  <a:lnTo>
                    <a:pt x="748662" y="0"/>
                  </a:lnTo>
                  <a:cubicBezTo>
                    <a:pt x="765673" y="0"/>
                    <a:pt x="781986" y="6757"/>
                    <a:pt x="794014" y="18786"/>
                  </a:cubicBezTo>
                  <a:cubicBezTo>
                    <a:pt x="806043" y="30814"/>
                    <a:pt x="812800" y="47127"/>
                    <a:pt x="812800" y="64138"/>
                  </a:cubicBezTo>
                  <a:lnTo>
                    <a:pt x="812800" y="748662"/>
                  </a:lnTo>
                  <a:cubicBezTo>
                    <a:pt x="812800" y="765673"/>
                    <a:pt x="806043" y="781986"/>
                    <a:pt x="794014" y="794014"/>
                  </a:cubicBezTo>
                  <a:cubicBezTo>
                    <a:pt x="781986" y="806043"/>
                    <a:pt x="765673" y="812800"/>
                    <a:pt x="748662" y="812800"/>
                  </a:cubicBezTo>
                  <a:lnTo>
                    <a:pt x="64138" y="812800"/>
                  </a:lnTo>
                  <a:cubicBezTo>
                    <a:pt x="47127" y="812800"/>
                    <a:pt x="30814" y="806043"/>
                    <a:pt x="18786" y="794014"/>
                  </a:cubicBezTo>
                  <a:cubicBezTo>
                    <a:pt x="6757" y="781986"/>
                    <a:pt x="0" y="765673"/>
                    <a:pt x="0" y="748662"/>
                  </a:cubicBezTo>
                  <a:lnTo>
                    <a:pt x="0" y="64138"/>
                  </a:lnTo>
                  <a:cubicBezTo>
                    <a:pt x="0" y="47127"/>
                    <a:pt x="6757" y="30814"/>
                    <a:pt x="18786" y="18786"/>
                  </a:cubicBezTo>
                  <a:cubicBezTo>
                    <a:pt x="30814" y="6757"/>
                    <a:pt x="47127" y="0"/>
                    <a:pt x="64138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-49863" b="0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6788262" y="4442718"/>
            <a:ext cx="4711475" cy="9322463"/>
            <a:chOff x="0" y="0"/>
            <a:chExt cx="2620010" cy="51841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/>
          </p:txBody>
        </p:sp>
        <p:sp>
          <p:nvSpPr>
            <p:cNvPr name="Freeform 9" id="9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10"/>
              <a:stretch>
                <a:fillRect l="-22234" t="0" r="-22234" b="0"/>
              </a:stretch>
            </a:blipFill>
          </p:spPr>
          <p:txBody>
            <a:bodyPr/>
            <a:p/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p/>
          </p:txBody>
        </p:sp>
        <p:sp>
          <p:nvSpPr>
            <p:cNvPr name="Freeform 11" id="11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p/>
          </p:txBody>
        </p:sp>
        <p:sp>
          <p:nvSpPr>
            <p:cNvPr name="Freeform 12" id="1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p/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p/>
          </p:txBody>
        </p:sp>
        <p:sp>
          <p:nvSpPr>
            <p:cNvPr name="Freeform 14" id="1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p/>
          </p:txBody>
        </p:sp>
        <p:sp>
          <p:nvSpPr>
            <p:cNvPr name="Freeform 15" id="1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p/>
          </p:txBody>
        </p:sp>
        <p:sp>
          <p:nvSpPr>
            <p:cNvPr name="Freeform 16" id="1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969222" y="7870163"/>
            <a:ext cx="2776274" cy="277627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138" y="0"/>
                  </a:moveTo>
                  <a:lnTo>
                    <a:pt x="748662" y="0"/>
                  </a:lnTo>
                  <a:cubicBezTo>
                    <a:pt x="765673" y="0"/>
                    <a:pt x="781986" y="6757"/>
                    <a:pt x="794014" y="18786"/>
                  </a:cubicBezTo>
                  <a:cubicBezTo>
                    <a:pt x="806043" y="30814"/>
                    <a:pt x="812800" y="47127"/>
                    <a:pt x="812800" y="64138"/>
                  </a:cubicBezTo>
                  <a:lnTo>
                    <a:pt x="812800" y="748662"/>
                  </a:lnTo>
                  <a:cubicBezTo>
                    <a:pt x="812800" y="765673"/>
                    <a:pt x="806043" y="781986"/>
                    <a:pt x="794014" y="794014"/>
                  </a:cubicBezTo>
                  <a:cubicBezTo>
                    <a:pt x="781986" y="806043"/>
                    <a:pt x="765673" y="812800"/>
                    <a:pt x="748662" y="812800"/>
                  </a:cubicBezTo>
                  <a:lnTo>
                    <a:pt x="64138" y="812800"/>
                  </a:lnTo>
                  <a:cubicBezTo>
                    <a:pt x="47127" y="812800"/>
                    <a:pt x="30814" y="806043"/>
                    <a:pt x="18786" y="794014"/>
                  </a:cubicBezTo>
                  <a:cubicBezTo>
                    <a:pt x="6757" y="781986"/>
                    <a:pt x="0" y="765673"/>
                    <a:pt x="0" y="748662"/>
                  </a:cubicBezTo>
                  <a:lnTo>
                    <a:pt x="0" y="64138"/>
                  </a:lnTo>
                  <a:cubicBezTo>
                    <a:pt x="0" y="47127"/>
                    <a:pt x="6757" y="30814"/>
                    <a:pt x="18786" y="18786"/>
                  </a:cubicBezTo>
                  <a:cubicBezTo>
                    <a:pt x="30814" y="6757"/>
                    <a:pt x="47127" y="0"/>
                    <a:pt x="64138" y="0"/>
                  </a:cubicBezTo>
                  <a:close/>
                </a:path>
              </a:pathLst>
            </a:custGeom>
            <a:blipFill>
              <a:blip r:embed="rId7"/>
              <a:stretch>
                <a:fillRect l="-25000" t="0" r="-25000" b="0"/>
              </a:stretch>
            </a:blipFill>
          </p:spPr>
          <p:txBody>
            <a:bodyPr/>
            <a:p/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28700" y="8280621"/>
            <a:ext cx="3996260" cy="1646657"/>
            <a:chOff x="0" y="0"/>
            <a:chExt cx="1169971" cy="48208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69971" cy="482086"/>
            </a:xfrm>
            <a:custGeom>
              <a:avLst/>
              <a:gdLst/>
              <a:ahLst/>
              <a:cxnLst/>
              <a:rect r="r" b="b" t="t" l="l"/>
              <a:pathLst>
                <a:path h="482086" w="1169971">
                  <a:moveTo>
                    <a:pt x="44558" y="0"/>
                  </a:moveTo>
                  <a:lnTo>
                    <a:pt x="1125414" y="0"/>
                  </a:lnTo>
                  <a:cubicBezTo>
                    <a:pt x="1137231" y="0"/>
                    <a:pt x="1148564" y="4694"/>
                    <a:pt x="1156921" y="13051"/>
                  </a:cubicBezTo>
                  <a:cubicBezTo>
                    <a:pt x="1165277" y="21407"/>
                    <a:pt x="1169971" y="32740"/>
                    <a:pt x="1169971" y="44558"/>
                  </a:cubicBezTo>
                  <a:lnTo>
                    <a:pt x="1169971" y="437528"/>
                  </a:lnTo>
                  <a:cubicBezTo>
                    <a:pt x="1169971" y="449346"/>
                    <a:pt x="1165277" y="460679"/>
                    <a:pt x="1156921" y="469035"/>
                  </a:cubicBezTo>
                  <a:cubicBezTo>
                    <a:pt x="1148564" y="477391"/>
                    <a:pt x="1137231" y="482086"/>
                    <a:pt x="1125414" y="482086"/>
                  </a:cubicBezTo>
                  <a:lnTo>
                    <a:pt x="44558" y="482086"/>
                  </a:lnTo>
                  <a:cubicBezTo>
                    <a:pt x="32740" y="482086"/>
                    <a:pt x="21407" y="477391"/>
                    <a:pt x="13051" y="469035"/>
                  </a:cubicBezTo>
                  <a:cubicBezTo>
                    <a:pt x="4694" y="460679"/>
                    <a:pt x="0" y="449346"/>
                    <a:pt x="0" y="437528"/>
                  </a:cubicBezTo>
                  <a:lnTo>
                    <a:pt x="0" y="44558"/>
                  </a:lnTo>
                  <a:cubicBezTo>
                    <a:pt x="0" y="32740"/>
                    <a:pt x="4694" y="21407"/>
                    <a:pt x="13051" y="13051"/>
                  </a:cubicBezTo>
                  <a:cubicBezTo>
                    <a:pt x="21407" y="4694"/>
                    <a:pt x="32740" y="0"/>
                    <a:pt x="44558" y="0"/>
                  </a:cubicBezTo>
                  <a:close/>
                </a:path>
              </a:pathLst>
            </a:custGeom>
            <a:solidFill>
              <a:srgbClr val="2E7D40"/>
            </a:solidFill>
          </p:spPr>
          <p:txBody>
            <a:bodyPr/>
            <a:p/>
          </p:txBody>
        </p:sp>
      </p:grpSp>
      <p:grpSp>
        <p:nvGrpSpPr>
          <p:cNvPr name="Group 21" id="21"/>
          <p:cNvGrpSpPr/>
          <p:nvPr/>
        </p:nvGrpSpPr>
        <p:grpSpPr>
          <a:xfrm rot="0">
            <a:off x="3026830" y="5143500"/>
            <a:ext cx="1617576" cy="1617576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34012" y="0"/>
                  </a:moveTo>
                  <a:lnTo>
                    <a:pt x="678789" y="0"/>
                  </a:lnTo>
                  <a:cubicBezTo>
                    <a:pt x="752801" y="0"/>
                    <a:pt x="812800" y="59999"/>
                    <a:pt x="812800" y="134012"/>
                  </a:cubicBezTo>
                  <a:lnTo>
                    <a:pt x="812800" y="678789"/>
                  </a:lnTo>
                  <a:cubicBezTo>
                    <a:pt x="812800" y="752801"/>
                    <a:pt x="752801" y="812800"/>
                    <a:pt x="678789" y="812800"/>
                  </a:cubicBezTo>
                  <a:lnTo>
                    <a:pt x="134012" y="812800"/>
                  </a:lnTo>
                  <a:cubicBezTo>
                    <a:pt x="59999" y="812800"/>
                    <a:pt x="0" y="752801"/>
                    <a:pt x="0" y="678789"/>
                  </a:cubicBezTo>
                  <a:lnTo>
                    <a:pt x="0" y="134012"/>
                  </a:lnTo>
                  <a:cubicBezTo>
                    <a:pt x="0" y="59999"/>
                    <a:pt x="59999" y="0"/>
                    <a:pt x="134012" y="0"/>
                  </a:cubicBezTo>
                  <a:close/>
                </a:path>
              </a:pathLst>
            </a:custGeom>
            <a:solidFill>
              <a:srgbClr val="1A5C2A"/>
            </a:solidFill>
          </p:spPr>
          <p:txBody>
            <a:bodyPr/>
            <a:p/>
          </p:txBody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3795339" y="2533869"/>
            <a:ext cx="10697322" cy="1413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8"/>
              </a:lnSpc>
            </a:pPr>
            <a:r>
              <a:rPr lang="en-US" sz="4715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Une application d’abonnement repas connectée aux prestataires locaux</a:t>
            </a:r>
            <a:r>
              <a:rPr lang="en-US" b="true" sz="4715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/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554947"/>
            <a:ext cx="3128095" cy="37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Juna ( junaeats.com )</a:t>
            </a: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/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745496" y="554947"/>
            <a:ext cx="251380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Pitch deck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357216" y="5281024"/>
            <a:ext cx="3552372" cy="799492"/>
            <a:chOff x="0" y="0"/>
            <a:chExt cx="4736495" cy="1065989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4736495" cy="1065989"/>
              <a:chOff x="0" y="0"/>
              <a:chExt cx="1805752" cy="4064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805752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1805752">
                    <a:moveTo>
                      <a:pt x="1602552" y="0"/>
                    </a:moveTo>
                    <a:cubicBezTo>
                      <a:pt x="1714776" y="0"/>
                      <a:pt x="1805752" y="90976"/>
                      <a:pt x="1805752" y="203200"/>
                    </a:cubicBezTo>
                    <a:cubicBezTo>
                      <a:pt x="1805752" y="315424"/>
                      <a:pt x="1714776" y="406400"/>
                      <a:pt x="1602552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4521E"/>
              </a:solidFill>
            </p:spPr>
            <p:txBody>
              <a:bodyPr/>
              <a:p/>
            </p:txBody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805752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848775" y="295147"/>
              <a:ext cx="499090" cy="475695"/>
              <a:chOff x="0" y="0"/>
              <a:chExt cx="812800" cy="7747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/>
            </p:txBody>
          </p:sp>
          <p:sp>
            <p:nvSpPr>
              <p:cNvPr name="TextBox 33" id="33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1473698" y="295147"/>
              <a:ext cx="499090" cy="475695"/>
              <a:chOff x="0" y="0"/>
              <a:chExt cx="812800" cy="7747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/>
            </p:txBody>
          </p:sp>
          <p:sp>
            <p:nvSpPr>
              <p:cNvPr name="TextBox 36" id="36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2137617" y="295147"/>
              <a:ext cx="499090" cy="475695"/>
              <a:chOff x="0" y="0"/>
              <a:chExt cx="812800" cy="7747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/>
            </p:txBody>
          </p:sp>
          <p:sp>
            <p:nvSpPr>
              <p:cNvPr name="TextBox 39" id="39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2762541" y="295147"/>
              <a:ext cx="499090" cy="475695"/>
              <a:chOff x="0" y="0"/>
              <a:chExt cx="812800" cy="7747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/>
            </p:txBody>
          </p:sp>
          <p:sp>
            <p:nvSpPr>
              <p:cNvPr name="TextBox 42" id="42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3388631" y="295147"/>
              <a:ext cx="499090" cy="475695"/>
              <a:chOff x="0" y="0"/>
              <a:chExt cx="812800" cy="7747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/>
            </p:txBody>
          </p:sp>
          <p:sp>
            <p:nvSpPr>
              <p:cNvPr name="TextBox 45" id="45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46" id="46"/>
          <p:cNvSpPr txBox="true"/>
          <p:nvPr/>
        </p:nvSpPr>
        <p:spPr>
          <a:xfrm rot="0">
            <a:off x="3757663" y="1529925"/>
            <a:ext cx="10697322" cy="737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8"/>
              </a:lnSpc>
            </a:pPr>
            <a:r>
              <a:rPr lang="en-US" sz="471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Juna</a:t>
            </a:r>
            <a:r>
              <a:rPr lang="en-US" b="true" sz="471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/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3291905" y="5408575"/>
            <a:ext cx="1087426" cy="1087426"/>
          </a:xfrm>
          <a:custGeom>
            <a:avLst/>
            <a:gdLst/>
            <a:ahLst/>
            <a:cxnLst/>
            <a:rect r="r" b="b" t="t" l="l"/>
            <a:pathLst>
              <a:path h="1087426" w="1087426">
                <a:moveTo>
                  <a:pt x="0" y="0"/>
                </a:moveTo>
                <a:lnTo>
                  <a:pt x="1087426" y="0"/>
                </a:lnTo>
                <a:lnTo>
                  <a:pt x="1087426" y="1087426"/>
                </a:lnTo>
                <a:lnTo>
                  <a:pt x="0" y="10874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8" id="48"/>
          <p:cNvSpPr txBox="true"/>
          <p:nvPr/>
        </p:nvSpPr>
        <p:spPr>
          <a:xfrm rot="0">
            <a:off x="1334097" y="9061401"/>
            <a:ext cx="3385466" cy="530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8"/>
              </a:lnSpc>
            </a:pPr>
            <a:r>
              <a:rPr lang="en-US" sz="183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Votre solution d’abonnement repas</a:t>
            </a:r>
            <a:r>
              <a:rPr lang="en-US" sz="183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/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34097" y="8615871"/>
            <a:ext cx="3372423" cy="445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973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Juna</a:t>
            </a:r>
            <a:r>
              <a:rPr lang="en-US" sz="2973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381125"/>
            <a:ext cx="8844750" cy="1413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8"/>
              </a:lnSpc>
            </a:pPr>
            <a:r>
              <a:rPr lang="en-US" sz="4715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Une application d’abonnement repas connectée aux prestataires locaux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54947"/>
            <a:ext cx="3151435" cy="37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Juna ( junaeats.com )</a:t>
            </a: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/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745496" y="554947"/>
            <a:ext cx="251380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Pitch deck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101228"/>
            <a:ext cx="9403149" cy="3800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Juna est une application qui connecte les utilisateurs à des prestataires locaux (cuisines, traiteurs, restaurateurs) via des formules d’abonnement repas.</a:t>
            </a: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algn="l">
              <a:lnSpc>
                <a:spcPts val="2475"/>
              </a:lnSpc>
            </a:pPr>
          </a:p>
          <a:p>
            <a:pPr algn="l">
              <a:lnSpc>
                <a:spcPts val="2475"/>
              </a:lnSpc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Grâce à Juna, les utilisateurs peuvent :</a:t>
            </a:r>
          </a:p>
          <a:p>
            <a:pPr algn="l">
              <a:lnSpc>
                <a:spcPts val="2475"/>
              </a:lnSpc>
            </a:pPr>
          </a:p>
          <a:p>
            <a:pPr algn="l" marL="472918" indent="-236459" lvl="1">
              <a:lnSpc>
                <a:spcPts val="2475"/>
              </a:lnSpc>
              <a:buFont typeface="Arial"/>
              <a:buChar char="•"/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découvrir les abonnements disponibles près de chez eux,</a:t>
            </a:r>
          </a:p>
          <a:p>
            <a:pPr algn="l" marL="472918" indent="-236459" lvl="1">
              <a:lnSpc>
                <a:spcPts val="2475"/>
              </a:lnSpc>
              <a:buFont typeface="Arial"/>
              <a:buChar char="•"/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souscrire et payer via Mobile Money,</a:t>
            </a:r>
          </a:p>
          <a:p>
            <a:pPr algn="l" marL="472918" indent="-236459" lvl="1">
              <a:lnSpc>
                <a:spcPts val="2475"/>
              </a:lnSpc>
              <a:buFont typeface="Arial"/>
              <a:buChar char="•"/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choisir entre livraison et retrait,</a:t>
            </a:r>
          </a:p>
          <a:p>
            <a:pPr algn="l" marL="472918" indent="-236459" lvl="1">
              <a:lnSpc>
                <a:spcPts val="2475"/>
              </a:lnSpc>
              <a:buFont typeface="Arial"/>
              <a:buChar char="•"/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et suivre leurs commandes en temps réel.</a:t>
            </a:r>
          </a:p>
          <a:p>
            <a:pPr algn="l">
              <a:lnSpc>
                <a:spcPts val="2475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7216451"/>
            <a:ext cx="2814537" cy="799492"/>
            <a:chOff x="0" y="0"/>
            <a:chExt cx="1430693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30693" cy="406400"/>
            </a:xfrm>
            <a:custGeom>
              <a:avLst/>
              <a:gdLst/>
              <a:ahLst/>
              <a:cxnLst/>
              <a:rect r="r" b="b" t="t" l="l"/>
              <a:pathLst>
                <a:path h="406400" w="1430693">
                  <a:moveTo>
                    <a:pt x="1227493" y="0"/>
                  </a:moveTo>
                  <a:cubicBezTo>
                    <a:pt x="1339718" y="0"/>
                    <a:pt x="1430693" y="90976"/>
                    <a:pt x="1430693" y="203200"/>
                  </a:cubicBezTo>
                  <a:cubicBezTo>
                    <a:pt x="1430693" y="315424"/>
                    <a:pt x="1339718" y="406400"/>
                    <a:pt x="122749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4521E"/>
            </a:solid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30693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7417627"/>
            <a:ext cx="2814537" cy="441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1"/>
              </a:lnSpc>
            </a:pPr>
            <a:r>
              <a:rPr lang="en-US" sz="296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Intuitive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180135" y="7216451"/>
            <a:ext cx="2754290" cy="799492"/>
            <a:chOff x="0" y="0"/>
            <a:chExt cx="1400069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00069" cy="406400"/>
            </a:xfrm>
            <a:custGeom>
              <a:avLst/>
              <a:gdLst/>
              <a:ahLst/>
              <a:cxnLst/>
              <a:rect r="r" b="b" t="t" l="l"/>
              <a:pathLst>
                <a:path h="406400" w="1400069">
                  <a:moveTo>
                    <a:pt x="1196869" y="0"/>
                  </a:moveTo>
                  <a:cubicBezTo>
                    <a:pt x="1309093" y="0"/>
                    <a:pt x="1400069" y="90976"/>
                    <a:pt x="1400069" y="203200"/>
                  </a:cubicBezTo>
                  <a:cubicBezTo>
                    <a:pt x="1400069" y="315424"/>
                    <a:pt x="1309093" y="406400"/>
                    <a:pt x="119686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A5C2A"/>
            </a:solidFill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400069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180135" y="7417627"/>
            <a:ext cx="2754290" cy="441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1"/>
              </a:lnSpc>
            </a:pPr>
            <a:r>
              <a:rPr lang="en-US" sz="296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Moderne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210651" y="7216451"/>
            <a:ext cx="3221199" cy="799492"/>
            <a:chOff x="0" y="0"/>
            <a:chExt cx="1637409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37409" cy="406400"/>
            </a:xfrm>
            <a:custGeom>
              <a:avLst/>
              <a:gdLst/>
              <a:ahLst/>
              <a:cxnLst/>
              <a:rect r="r" b="b" t="t" l="l"/>
              <a:pathLst>
                <a:path h="406400" w="1637409">
                  <a:moveTo>
                    <a:pt x="1434209" y="0"/>
                  </a:moveTo>
                  <a:cubicBezTo>
                    <a:pt x="1546433" y="0"/>
                    <a:pt x="1637409" y="90976"/>
                    <a:pt x="1637409" y="203200"/>
                  </a:cubicBezTo>
                  <a:cubicBezTo>
                    <a:pt x="1637409" y="315424"/>
                    <a:pt x="1546433" y="406400"/>
                    <a:pt x="143420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E7D40"/>
            </a:solidFill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637409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210651" y="7417627"/>
            <a:ext cx="3221199" cy="441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1"/>
              </a:lnSpc>
            </a:pPr>
            <a:r>
              <a:rPr lang="en-US" sz="296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Accessible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3338263" y="1400175"/>
            <a:ext cx="12499541" cy="11658662"/>
          </a:xfrm>
          <a:custGeom>
            <a:avLst/>
            <a:gdLst/>
            <a:ahLst/>
            <a:cxnLst/>
            <a:rect r="r" b="b" t="t" l="l"/>
            <a:pathLst>
              <a:path h="11658662" w="12499541">
                <a:moveTo>
                  <a:pt x="0" y="0"/>
                </a:moveTo>
                <a:lnTo>
                  <a:pt x="12499541" y="0"/>
                </a:lnTo>
                <a:lnTo>
                  <a:pt x="12499541" y="11658662"/>
                </a:lnTo>
                <a:lnTo>
                  <a:pt x="0" y="11658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9" id="19"/>
          <p:cNvGrpSpPr/>
          <p:nvPr/>
        </p:nvGrpSpPr>
        <p:grpSpPr>
          <a:xfrm rot="0">
            <a:off x="14483026" y="2298678"/>
            <a:ext cx="2776274" cy="277627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138" y="0"/>
                  </a:moveTo>
                  <a:lnTo>
                    <a:pt x="748662" y="0"/>
                  </a:lnTo>
                  <a:cubicBezTo>
                    <a:pt x="765673" y="0"/>
                    <a:pt x="781986" y="6757"/>
                    <a:pt x="794014" y="18786"/>
                  </a:cubicBezTo>
                  <a:cubicBezTo>
                    <a:pt x="806043" y="30814"/>
                    <a:pt x="812800" y="47127"/>
                    <a:pt x="812800" y="64138"/>
                  </a:cubicBezTo>
                  <a:lnTo>
                    <a:pt x="812800" y="748662"/>
                  </a:lnTo>
                  <a:cubicBezTo>
                    <a:pt x="812800" y="765673"/>
                    <a:pt x="806043" y="781986"/>
                    <a:pt x="794014" y="794014"/>
                  </a:cubicBezTo>
                  <a:cubicBezTo>
                    <a:pt x="781986" y="806043"/>
                    <a:pt x="765673" y="812800"/>
                    <a:pt x="748662" y="812800"/>
                  </a:cubicBezTo>
                  <a:lnTo>
                    <a:pt x="64138" y="812800"/>
                  </a:lnTo>
                  <a:cubicBezTo>
                    <a:pt x="47127" y="812800"/>
                    <a:pt x="30814" y="806043"/>
                    <a:pt x="18786" y="794014"/>
                  </a:cubicBezTo>
                  <a:cubicBezTo>
                    <a:pt x="6757" y="781986"/>
                    <a:pt x="0" y="765673"/>
                    <a:pt x="0" y="748662"/>
                  </a:cubicBezTo>
                  <a:lnTo>
                    <a:pt x="0" y="64138"/>
                  </a:lnTo>
                  <a:cubicBezTo>
                    <a:pt x="0" y="47127"/>
                    <a:pt x="6757" y="30814"/>
                    <a:pt x="18786" y="18786"/>
                  </a:cubicBezTo>
                  <a:cubicBezTo>
                    <a:pt x="30814" y="6757"/>
                    <a:pt x="47127" y="0"/>
                    <a:pt x="64138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-49863" b="0"/>
              </a:stretch>
            </a:blipFill>
          </p:spPr>
          <p:txBody>
            <a:bodyPr/>
            <a:p/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104809" y="5646332"/>
            <a:ext cx="2776274" cy="2776274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138" y="0"/>
                  </a:moveTo>
                  <a:lnTo>
                    <a:pt x="748662" y="0"/>
                  </a:lnTo>
                  <a:cubicBezTo>
                    <a:pt x="765673" y="0"/>
                    <a:pt x="781986" y="6757"/>
                    <a:pt x="794014" y="18786"/>
                  </a:cubicBezTo>
                  <a:cubicBezTo>
                    <a:pt x="806043" y="30814"/>
                    <a:pt x="812800" y="47127"/>
                    <a:pt x="812800" y="64138"/>
                  </a:cubicBezTo>
                  <a:lnTo>
                    <a:pt x="812800" y="748662"/>
                  </a:lnTo>
                  <a:cubicBezTo>
                    <a:pt x="812800" y="765673"/>
                    <a:pt x="806043" y="781986"/>
                    <a:pt x="794014" y="794014"/>
                  </a:cubicBezTo>
                  <a:cubicBezTo>
                    <a:pt x="781986" y="806043"/>
                    <a:pt x="765673" y="812800"/>
                    <a:pt x="748662" y="812800"/>
                  </a:cubicBezTo>
                  <a:lnTo>
                    <a:pt x="64138" y="812800"/>
                  </a:lnTo>
                  <a:cubicBezTo>
                    <a:pt x="47127" y="812800"/>
                    <a:pt x="30814" y="806043"/>
                    <a:pt x="18786" y="794014"/>
                  </a:cubicBezTo>
                  <a:cubicBezTo>
                    <a:pt x="6757" y="781986"/>
                    <a:pt x="0" y="765673"/>
                    <a:pt x="0" y="748662"/>
                  </a:cubicBezTo>
                  <a:lnTo>
                    <a:pt x="0" y="64138"/>
                  </a:lnTo>
                  <a:cubicBezTo>
                    <a:pt x="0" y="47127"/>
                    <a:pt x="6757" y="30814"/>
                    <a:pt x="18786" y="18786"/>
                  </a:cubicBezTo>
                  <a:cubicBezTo>
                    <a:pt x="30814" y="6757"/>
                    <a:pt x="47127" y="0"/>
                    <a:pt x="64138" y="0"/>
                  </a:cubicBezTo>
                  <a:close/>
                </a:path>
              </a:pathLst>
            </a:custGeom>
            <a:blipFill>
              <a:blip r:embed="rId5"/>
              <a:stretch>
                <a:fillRect l="-32831" t="0" r="-32831" b="0"/>
              </a:stretch>
            </a:blipFill>
          </p:spPr>
          <p:txBody>
            <a:bodyPr/>
            <a:p/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361711" y="4134375"/>
            <a:ext cx="2242631" cy="2242631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96660" y="0"/>
                  </a:moveTo>
                  <a:lnTo>
                    <a:pt x="716140" y="0"/>
                  </a:lnTo>
                  <a:cubicBezTo>
                    <a:pt x="769524" y="0"/>
                    <a:pt x="812800" y="43276"/>
                    <a:pt x="812800" y="96660"/>
                  </a:cubicBezTo>
                  <a:lnTo>
                    <a:pt x="812800" y="716140"/>
                  </a:lnTo>
                  <a:cubicBezTo>
                    <a:pt x="812800" y="769524"/>
                    <a:pt x="769524" y="812800"/>
                    <a:pt x="716140" y="812800"/>
                  </a:cubicBezTo>
                  <a:lnTo>
                    <a:pt x="96660" y="812800"/>
                  </a:lnTo>
                  <a:cubicBezTo>
                    <a:pt x="43276" y="812800"/>
                    <a:pt x="0" y="769524"/>
                    <a:pt x="0" y="716140"/>
                  </a:cubicBezTo>
                  <a:lnTo>
                    <a:pt x="0" y="96660"/>
                  </a:lnTo>
                  <a:cubicBezTo>
                    <a:pt x="0" y="43276"/>
                    <a:pt x="43276" y="0"/>
                    <a:pt x="96660" y="0"/>
                  </a:cubicBezTo>
                  <a:close/>
                </a:path>
              </a:pathLst>
            </a:custGeom>
            <a:solidFill>
              <a:srgbClr val="1A5C2A"/>
            </a:solidFill>
          </p:spPr>
          <p:txBody>
            <a:bodyPr/>
            <a:p/>
          </p:txBody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3664440" y="4437104"/>
            <a:ext cx="1637173" cy="1637173"/>
          </a:xfrm>
          <a:custGeom>
            <a:avLst/>
            <a:gdLst/>
            <a:ahLst/>
            <a:cxnLst/>
            <a:rect r="r" b="b" t="t" l="l"/>
            <a:pathLst>
              <a:path h="1637173" w="1637173">
                <a:moveTo>
                  <a:pt x="0" y="0"/>
                </a:moveTo>
                <a:lnTo>
                  <a:pt x="1637173" y="0"/>
                </a:lnTo>
                <a:lnTo>
                  <a:pt x="1637173" y="1637173"/>
                </a:lnTo>
                <a:lnTo>
                  <a:pt x="0" y="16371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381125"/>
            <a:ext cx="8844750" cy="1413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8"/>
              </a:lnSpc>
            </a:pPr>
            <a:r>
              <a:rPr lang="en-US" sz="4715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Une plateforme complète pour usagers et prestataires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54947"/>
            <a:ext cx="3039422" cy="37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Juna ( junaeats.com )</a:t>
            </a: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/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745496" y="554947"/>
            <a:ext cx="251380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Pitch deck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894230" y="6930996"/>
            <a:ext cx="12499541" cy="11658662"/>
          </a:xfrm>
          <a:custGeom>
            <a:avLst/>
            <a:gdLst/>
            <a:ahLst/>
            <a:cxnLst/>
            <a:rect r="r" b="b" t="t" l="l"/>
            <a:pathLst>
              <a:path h="11658662" w="12499541">
                <a:moveTo>
                  <a:pt x="0" y="0"/>
                </a:moveTo>
                <a:lnTo>
                  <a:pt x="12499540" y="0"/>
                </a:lnTo>
                <a:lnTo>
                  <a:pt x="12499540" y="11658662"/>
                </a:lnTo>
                <a:lnTo>
                  <a:pt x="0" y="11658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6" id="6"/>
          <p:cNvGrpSpPr/>
          <p:nvPr/>
        </p:nvGrpSpPr>
        <p:grpSpPr>
          <a:xfrm rot="0">
            <a:off x="1028700" y="3919085"/>
            <a:ext cx="5185201" cy="3284851"/>
            <a:chOff x="0" y="0"/>
            <a:chExt cx="1518053" cy="9616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18053" cy="961694"/>
            </a:xfrm>
            <a:custGeom>
              <a:avLst/>
              <a:gdLst/>
              <a:ahLst/>
              <a:cxnLst/>
              <a:rect r="r" b="b" t="t" l="l"/>
              <a:pathLst>
                <a:path h="961694" w="1518053">
                  <a:moveTo>
                    <a:pt x="34341" y="0"/>
                  </a:moveTo>
                  <a:lnTo>
                    <a:pt x="1483712" y="0"/>
                  </a:lnTo>
                  <a:cubicBezTo>
                    <a:pt x="1492820" y="0"/>
                    <a:pt x="1501555" y="3618"/>
                    <a:pt x="1507995" y="10058"/>
                  </a:cubicBezTo>
                  <a:cubicBezTo>
                    <a:pt x="1514435" y="16498"/>
                    <a:pt x="1518053" y="25233"/>
                    <a:pt x="1518053" y="34341"/>
                  </a:cubicBezTo>
                  <a:lnTo>
                    <a:pt x="1518053" y="927354"/>
                  </a:lnTo>
                  <a:cubicBezTo>
                    <a:pt x="1518053" y="936461"/>
                    <a:pt x="1514435" y="945196"/>
                    <a:pt x="1507995" y="951636"/>
                  </a:cubicBezTo>
                  <a:cubicBezTo>
                    <a:pt x="1501555" y="958076"/>
                    <a:pt x="1492820" y="961694"/>
                    <a:pt x="1483712" y="961694"/>
                  </a:cubicBezTo>
                  <a:lnTo>
                    <a:pt x="34341" y="961694"/>
                  </a:lnTo>
                  <a:cubicBezTo>
                    <a:pt x="25233" y="961694"/>
                    <a:pt x="16498" y="958076"/>
                    <a:pt x="10058" y="951636"/>
                  </a:cubicBezTo>
                  <a:cubicBezTo>
                    <a:pt x="3618" y="945196"/>
                    <a:pt x="0" y="936461"/>
                    <a:pt x="0" y="927354"/>
                  </a:cubicBezTo>
                  <a:lnTo>
                    <a:pt x="0" y="34341"/>
                  </a:lnTo>
                  <a:cubicBezTo>
                    <a:pt x="0" y="25233"/>
                    <a:pt x="3618" y="16498"/>
                    <a:pt x="10058" y="10058"/>
                  </a:cubicBezTo>
                  <a:cubicBezTo>
                    <a:pt x="16498" y="3618"/>
                    <a:pt x="25233" y="0"/>
                    <a:pt x="34341" y="0"/>
                  </a:cubicBezTo>
                  <a:close/>
                </a:path>
              </a:pathLst>
            </a:custGeom>
            <a:solidFill>
              <a:srgbClr val="2E7D40"/>
            </a:solidFill>
          </p:spPr>
          <p:txBody>
            <a:bodyPr/>
            <a:p/>
          </p:txBody>
        </p:sp>
      </p:grpSp>
      <p:sp>
        <p:nvSpPr>
          <p:cNvPr name="TextBox 8" id="8"/>
          <p:cNvSpPr txBox="true"/>
          <p:nvPr/>
        </p:nvSpPr>
        <p:spPr>
          <a:xfrm rot="0">
            <a:off x="1383338" y="5406572"/>
            <a:ext cx="4475926" cy="1286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L’utilisateur parcourt les abonnements disponibles et choisit la formule adaptée à ses besoins et son budget.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3338" y="4420626"/>
            <a:ext cx="4351094" cy="898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3004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Découverte d’abonnements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266274" y="6930996"/>
            <a:ext cx="2776274" cy="277627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138" y="0"/>
                  </a:moveTo>
                  <a:lnTo>
                    <a:pt x="748662" y="0"/>
                  </a:lnTo>
                  <a:cubicBezTo>
                    <a:pt x="765673" y="0"/>
                    <a:pt x="781986" y="6757"/>
                    <a:pt x="794014" y="18786"/>
                  </a:cubicBezTo>
                  <a:cubicBezTo>
                    <a:pt x="806043" y="30814"/>
                    <a:pt x="812800" y="47127"/>
                    <a:pt x="812800" y="64138"/>
                  </a:cubicBezTo>
                  <a:lnTo>
                    <a:pt x="812800" y="748662"/>
                  </a:lnTo>
                  <a:cubicBezTo>
                    <a:pt x="812800" y="765673"/>
                    <a:pt x="806043" y="781986"/>
                    <a:pt x="794014" y="794014"/>
                  </a:cubicBezTo>
                  <a:cubicBezTo>
                    <a:pt x="781986" y="806043"/>
                    <a:pt x="765673" y="812800"/>
                    <a:pt x="748662" y="812800"/>
                  </a:cubicBezTo>
                  <a:lnTo>
                    <a:pt x="64138" y="812800"/>
                  </a:lnTo>
                  <a:cubicBezTo>
                    <a:pt x="47127" y="812800"/>
                    <a:pt x="30814" y="806043"/>
                    <a:pt x="18786" y="794014"/>
                  </a:cubicBezTo>
                  <a:cubicBezTo>
                    <a:pt x="6757" y="781986"/>
                    <a:pt x="0" y="765673"/>
                    <a:pt x="0" y="748662"/>
                  </a:cubicBezTo>
                  <a:lnTo>
                    <a:pt x="0" y="64138"/>
                  </a:lnTo>
                  <a:cubicBezTo>
                    <a:pt x="0" y="47127"/>
                    <a:pt x="6757" y="30814"/>
                    <a:pt x="18786" y="18786"/>
                  </a:cubicBezTo>
                  <a:cubicBezTo>
                    <a:pt x="30814" y="6757"/>
                    <a:pt x="47127" y="0"/>
                    <a:pt x="64138" y="0"/>
                  </a:cubicBezTo>
                  <a:close/>
                </a:path>
              </a:pathLst>
            </a:custGeom>
            <a:blipFill>
              <a:blip r:embed="rId4"/>
              <a:stretch>
                <a:fillRect l="-32831" t="0" r="-32831" b="0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6550755" y="3919085"/>
            <a:ext cx="5185201" cy="3284851"/>
            <a:chOff x="0" y="0"/>
            <a:chExt cx="1518053" cy="96169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18053" cy="961694"/>
            </a:xfrm>
            <a:custGeom>
              <a:avLst/>
              <a:gdLst/>
              <a:ahLst/>
              <a:cxnLst/>
              <a:rect r="r" b="b" t="t" l="l"/>
              <a:pathLst>
                <a:path h="961694" w="1518053">
                  <a:moveTo>
                    <a:pt x="34341" y="0"/>
                  </a:moveTo>
                  <a:lnTo>
                    <a:pt x="1483712" y="0"/>
                  </a:lnTo>
                  <a:cubicBezTo>
                    <a:pt x="1492820" y="0"/>
                    <a:pt x="1501555" y="3618"/>
                    <a:pt x="1507995" y="10058"/>
                  </a:cubicBezTo>
                  <a:cubicBezTo>
                    <a:pt x="1514435" y="16498"/>
                    <a:pt x="1518053" y="25233"/>
                    <a:pt x="1518053" y="34341"/>
                  </a:cubicBezTo>
                  <a:lnTo>
                    <a:pt x="1518053" y="927354"/>
                  </a:lnTo>
                  <a:cubicBezTo>
                    <a:pt x="1518053" y="936461"/>
                    <a:pt x="1514435" y="945196"/>
                    <a:pt x="1507995" y="951636"/>
                  </a:cubicBezTo>
                  <a:cubicBezTo>
                    <a:pt x="1501555" y="958076"/>
                    <a:pt x="1492820" y="961694"/>
                    <a:pt x="1483712" y="961694"/>
                  </a:cubicBezTo>
                  <a:lnTo>
                    <a:pt x="34341" y="961694"/>
                  </a:lnTo>
                  <a:cubicBezTo>
                    <a:pt x="25233" y="961694"/>
                    <a:pt x="16498" y="958076"/>
                    <a:pt x="10058" y="951636"/>
                  </a:cubicBezTo>
                  <a:cubicBezTo>
                    <a:pt x="3618" y="945196"/>
                    <a:pt x="0" y="936461"/>
                    <a:pt x="0" y="927354"/>
                  </a:cubicBezTo>
                  <a:lnTo>
                    <a:pt x="0" y="34341"/>
                  </a:lnTo>
                  <a:cubicBezTo>
                    <a:pt x="0" y="25233"/>
                    <a:pt x="3618" y="16498"/>
                    <a:pt x="10058" y="10058"/>
                  </a:cubicBezTo>
                  <a:cubicBezTo>
                    <a:pt x="16498" y="3618"/>
                    <a:pt x="25233" y="0"/>
                    <a:pt x="34341" y="0"/>
                  </a:cubicBezTo>
                  <a:close/>
                </a:path>
              </a:pathLst>
            </a:custGeom>
            <a:solidFill>
              <a:srgbClr val="1A5C2A"/>
            </a:solidFill>
          </p:spPr>
          <p:txBody>
            <a:bodyPr/>
            <a:p/>
          </p:txBody>
        </p:sp>
      </p:grpSp>
      <p:sp>
        <p:nvSpPr>
          <p:cNvPr name="TextBox 14" id="14"/>
          <p:cNvSpPr txBox="true"/>
          <p:nvPr/>
        </p:nvSpPr>
        <p:spPr>
          <a:xfrm rot="0">
            <a:off x="6905393" y="5406572"/>
            <a:ext cx="4475926" cy="1286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Les paiements sont gérés simplement via Mobile Money, sans friction pour l’utilisateur.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05393" y="4420626"/>
            <a:ext cx="4351094" cy="898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3004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Paiement Mobile Money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074099" y="3919085"/>
            <a:ext cx="5185201" cy="3284851"/>
            <a:chOff x="0" y="0"/>
            <a:chExt cx="1518053" cy="96169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18053" cy="961694"/>
            </a:xfrm>
            <a:custGeom>
              <a:avLst/>
              <a:gdLst/>
              <a:ahLst/>
              <a:cxnLst/>
              <a:rect r="r" b="b" t="t" l="l"/>
              <a:pathLst>
                <a:path h="961694" w="1518053">
                  <a:moveTo>
                    <a:pt x="34341" y="0"/>
                  </a:moveTo>
                  <a:lnTo>
                    <a:pt x="1483712" y="0"/>
                  </a:lnTo>
                  <a:cubicBezTo>
                    <a:pt x="1492820" y="0"/>
                    <a:pt x="1501555" y="3618"/>
                    <a:pt x="1507995" y="10058"/>
                  </a:cubicBezTo>
                  <a:cubicBezTo>
                    <a:pt x="1514435" y="16498"/>
                    <a:pt x="1518053" y="25233"/>
                    <a:pt x="1518053" y="34341"/>
                  </a:cubicBezTo>
                  <a:lnTo>
                    <a:pt x="1518053" y="927354"/>
                  </a:lnTo>
                  <a:cubicBezTo>
                    <a:pt x="1518053" y="936461"/>
                    <a:pt x="1514435" y="945196"/>
                    <a:pt x="1507995" y="951636"/>
                  </a:cubicBezTo>
                  <a:cubicBezTo>
                    <a:pt x="1501555" y="958076"/>
                    <a:pt x="1492820" y="961694"/>
                    <a:pt x="1483712" y="961694"/>
                  </a:cubicBezTo>
                  <a:lnTo>
                    <a:pt x="34341" y="961694"/>
                  </a:lnTo>
                  <a:cubicBezTo>
                    <a:pt x="25233" y="961694"/>
                    <a:pt x="16498" y="958076"/>
                    <a:pt x="10058" y="951636"/>
                  </a:cubicBezTo>
                  <a:cubicBezTo>
                    <a:pt x="3618" y="945196"/>
                    <a:pt x="0" y="936461"/>
                    <a:pt x="0" y="927354"/>
                  </a:cubicBezTo>
                  <a:lnTo>
                    <a:pt x="0" y="34341"/>
                  </a:lnTo>
                  <a:cubicBezTo>
                    <a:pt x="0" y="25233"/>
                    <a:pt x="3618" y="16498"/>
                    <a:pt x="10058" y="10058"/>
                  </a:cubicBezTo>
                  <a:cubicBezTo>
                    <a:pt x="16498" y="3618"/>
                    <a:pt x="25233" y="0"/>
                    <a:pt x="34341" y="0"/>
                  </a:cubicBezTo>
                  <a:close/>
                </a:path>
              </a:pathLst>
            </a:custGeom>
            <a:solidFill>
              <a:srgbClr val="F4521E"/>
            </a:solidFill>
          </p:spPr>
          <p:txBody>
            <a:bodyPr/>
            <a:p/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428736" y="5406572"/>
            <a:ext cx="4475926" cy="971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Les prestataires obtiennent une vision claire de la demande à venir pour mieux planifier leur production.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428736" y="4420626"/>
            <a:ext cx="4351094" cy="898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3004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Prévision de la demande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3023278"/>
            <a:ext cx="16284151" cy="657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Juna agit comme un pont entre les usagers et les prestataires locaux, au service d’une alimentation plus prévisible et plus durable.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3774481" y="8081230"/>
            <a:ext cx="2776274" cy="2776274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138" y="0"/>
                  </a:moveTo>
                  <a:lnTo>
                    <a:pt x="748662" y="0"/>
                  </a:lnTo>
                  <a:cubicBezTo>
                    <a:pt x="765673" y="0"/>
                    <a:pt x="781986" y="6757"/>
                    <a:pt x="794014" y="18786"/>
                  </a:cubicBezTo>
                  <a:cubicBezTo>
                    <a:pt x="806043" y="30814"/>
                    <a:pt x="812800" y="47127"/>
                    <a:pt x="812800" y="64138"/>
                  </a:cubicBezTo>
                  <a:lnTo>
                    <a:pt x="812800" y="748662"/>
                  </a:lnTo>
                  <a:cubicBezTo>
                    <a:pt x="812800" y="765673"/>
                    <a:pt x="806043" y="781986"/>
                    <a:pt x="794014" y="794014"/>
                  </a:cubicBezTo>
                  <a:cubicBezTo>
                    <a:pt x="781986" y="806043"/>
                    <a:pt x="765673" y="812800"/>
                    <a:pt x="748662" y="812800"/>
                  </a:cubicBezTo>
                  <a:lnTo>
                    <a:pt x="64138" y="812800"/>
                  </a:lnTo>
                  <a:cubicBezTo>
                    <a:pt x="47127" y="812800"/>
                    <a:pt x="30814" y="806043"/>
                    <a:pt x="18786" y="794014"/>
                  </a:cubicBezTo>
                  <a:cubicBezTo>
                    <a:pt x="6757" y="781986"/>
                    <a:pt x="0" y="765673"/>
                    <a:pt x="0" y="748662"/>
                  </a:cubicBezTo>
                  <a:lnTo>
                    <a:pt x="0" y="64138"/>
                  </a:lnTo>
                  <a:cubicBezTo>
                    <a:pt x="0" y="47127"/>
                    <a:pt x="6757" y="30814"/>
                    <a:pt x="18786" y="18786"/>
                  </a:cubicBezTo>
                  <a:cubicBezTo>
                    <a:pt x="30814" y="6757"/>
                    <a:pt x="47127" y="0"/>
                    <a:pt x="64138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-49863" b="0"/>
              </a:stretch>
            </a:blipFill>
          </p:spPr>
          <p:txBody>
            <a:bodyPr/>
            <a:p/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180084" y="8231641"/>
            <a:ext cx="2776274" cy="2776274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138" y="0"/>
                  </a:moveTo>
                  <a:lnTo>
                    <a:pt x="748662" y="0"/>
                  </a:lnTo>
                  <a:cubicBezTo>
                    <a:pt x="765673" y="0"/>
                    <a:pt x="781986" y="6757"/>
                    <a:pt x="794014" y="18786"/>
                  </a:cubicBezTo>
                  <a:cubicBezTo>
                    <a:pt x="806043" y="30814"/>
                    <a:pt x="812800" y="47127"/>
                    <a:pt x="812800" y="64138"/>
                  </a:cubicBezTo>
                  <a:lnTo>
                    <a:pt x="812800" y="748662"/>
                  </a:lnTo>
                  <a:cubicBezTo>
                    <a:pt x="812800" y="765673"/>
                    <a:pt x="806043" y="781986"/>
                    <a:pt x="794014" y="794014"/>
                  </a:cubicBezTo>
                  <a:cubicBezTo>
                    <a:pt x="781986" y="806043"/>
                    <a:pt x="765673" y="812800"/>
                    <a:pt x="748662" y="812800"/>
                  </a:cubicBezTo>
                  <a:lnTo>
                    <a:pt x="64138" y="812800"/>
                  </a:lnTo>
                  <a:cubicBezTo>
                    <a:pt x="47127" y="812800"/>
                    <a:pt x="30814" y="806043"/>
                    <a:pt x="18786" y="794014"/>
                  </a:cubicBezTo>
                  <a:cubicBezTo>
                    <a:pt x="6757" y="781986"/>
                    <a:pt x="0" y="765673"/>
                    <a:pt x="0" y="748662"/>
                  </a:cubicBezTo>
                  <a:lnTo>
                    <a:pt x="0" y="64138"/>
                  </a:lnTo>
                  <a:cubicBezTo>
                    <a:pt x="0" y="47127"/>
                    <a:pt x="6757" y="30814"/>
                    <a:pt x="18786" y="18786"/>
                  </a:cubicBezTo>
                  <a:cubicBezTo>
                    <a:pt x="30814" y="6757"/>
                    <a:pt x="47127" y="0"/>
                    <a:pt x="64138" y="0"/>
                  </a:cubicBezTo>
                  <a:close/>
                </a:path>
              </a:pathLst>
            </a:custGeom>
            <a:blipFill>
              <a:blip r:embed="rId6"/>
              <a:stretch>
                <a:fillRect l="-49910" t="-32717" r="-49165" b="0"/>
              </a:stretch>
            </a:blip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5528568" y="8578262"/>
            <a:ext cx="3552372" cy="799492"/>
            <a:chOff x="0" y="0"/>
            <a:chExt cx="4736495" cy="1065989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4736495" cy="1065989"/>
              <a:chOff x="0" y="0"/>
              <a:chExt cx="1805752" cy="4064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805752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1805752">
                    <a:moveTo>
                      <a:pt x="1602552" y="0"/>
                    </a:moveTo>
                    <a:cubicBezTo>
                      <a:pt x="1714776" y="0"/>
                      <a:pt x="1805752" y="90976"/>
                      <a:pt x="1805752" y="203200"/>
                    </a:cubicBezTo>
                    <a:cubicBezTo>
                      <a:pt x="1805752" y="315424"/>
                      <a:pt x="1714776" y="406400"/>
                      <a:pt x="1602552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4521E"/>
              </a:solidFill>
            </p:spPr>
            <p:txBody>
              <a:bodyPr/>
              <a:p/>
            </p:txBody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805752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848775" y="295147"/>
              <a:ext cx="499090" cy="475695"/>
              <a:chOff x="0" y="0"/>
              <a:chExt cx="812800" cy="7747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/>
            </p:txBody>
          </p:sp>
          <p:sp>
            <p:nvSpPr>
              <p:cNvPr name="TextBox 31" id="31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1473698" y="295147"/>
              <a:ext cx="499090" cy="475695"/>
              <a:chOff x="0" y="0"/>
              <a:chExt cx="812800" cy="7747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/>
            </p:txBody>
          </p:sp>
          <p:sp>
            <p:nvSpPr>
              <p:cNvPr name="TextBox 34" id="34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2137617" y="295147"/>
              <a:ext cx="499090" cy="475695"/>
              <a:chOff x="0" y="0"/>
              <a:chExt cx="812800" cy="7747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/>
            </p:txBody>
          </p:sp>
          <p:sp>
            <p:nvSpPr>
              <p:cNvPr name="TextBox 37" id="37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2762541" y="295147"/>
              <a:ext cx="499090" cy="475695"/>
              <a:chOff x="0" y="0"/>
              <a:chExt cx="812800" cy="7747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/>
            </p:txBody>
          </p:sp>
          <p:sp>
            <p:nvSpPr>
              <p:cNvPr name="TextBox 40" id="40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3388631" y="295147"/>
              <a:ext cx="499090" cy="475695"/>
              <a:chOff x="0" y="0"/>
              <a:chExt cx="812800" cy="7747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/>
            </p:txBody>
          </p:sp>
          <p:sp>
            <p:nvSpPr>
              <p:cNvPr name="TextBox 43" id="43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381125"/>
            <a:ext cx="8844750" cy="1413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8"/>
              </a:lnSpc>
            </a:pPr>
            <a:r>
              <a:rPr lang="en-US" sz="4715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Des abonnements adaptés à chaque besoin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54947"/>
            <a:ext cx="3139540" cy="37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Juna ( junaeats.com )</a:t>
            </a: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/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745496" y="554947"/>
            <a:ext cx="251380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Pitch deck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145990"/>
            <a:ext cx="4422375" cy="1286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5"/>
              </a:lnSpc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Pour les utilisateurs cherchant une formule simple, un repas par jour (déjeuner ou dîner).</a:t>
            </a: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154367" y="3502417"/>
            <a:ext cx="2776274" cy="277627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138" y="0"/>
                  </a:moveTo>
                  <a:lnTo>
                    <a:pt x="748662" y="0"/>
                  </a:lnTo>
                  <a:cubicBezTo>
                    <a:pt x="765673" y="0"/>
                    <a:pt x="781986" y="6757"/>
                    <a:pt x="794014" y="18786"/>
                  </a:cubicBezTo>
                  <a:cubicBezTo>
                    <a:pt x="806043" y="30814"/>
                    <a:pt x="812800" y="47127"/>
                    <a:pt x="812800" y="64138"/>
                  </a:cubicBezTo>
                  <a:lnTo>
                    <a:pt x="812800" y="748662"/>
                  </a:lnTo>
                  <a:cubicBezTo>
                    <a:pt x="812800" y="765673"/>
                    <a:pt x="806043" y="781986"/>
                    <a:pt x="794014" y="794014"/>
                  </a:cubicBezTo>
                  <a:cubicBezTo>
                    <a:pt x="781986" y="806043"/>
                    <a:pt x="765673" y="812800"/>
                    <a:pt x="748662" y="812800"/>
                  </a:cubicBezTo>
                  <a:lnTo>
                    <a:pt x="64138" y="812800"/>
                  </a:lnTo>
                  <a:cubicBezTo>
                    <a:pt x="47127" y="812800"/>
                    <a:pt x="30814" y="806043"/>
                    <a:pt x="18786" y="794014"/>
                  </a:cubicBezTo>
                  <a:cubicBezTo>
                    <a:pt x="6757" y="781986"/>
                    <a:pt x="0" y="765673"/>
                    <a:pt x="0" y="748662"/>
                  </a:cubicBezTo>
                  <a:lnTo>
                    <a:pt x="0" y="64138"/>
                  </a:lnTo>
                  <a:cubicBezTo>
                    <a:pt x="0" y="47127"/>
                    <a:pt x="6757" y="30814"/>
                    <a:pt x="18786" y="18786"/>
                  </a:cubicBezTo>
                  <a:cubicBezTo>
                    <a:pt x="30814" y="6757"/>
                    <a:pt x="47127" y="0"/>
                    <a:pt x="64138" y="0"/>
                  </a:cubicBezTo>
                  <a:close/>
                </a:path>
              </a:pathLst>
            </a:custGeom>
            <a:blipFill>
              <a:blip r:embed="rId2"/>
              <a:stretch>
                <a:fillRect l="-25000" t="0" r="-25000" b="0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5977260"/>
            <a:ext cx="3341691" cy="799492"/>
            <a:chOff x="0" y="0"/>
            <a:chExt cx="1698658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98658" cy="406400"/>
            </a:xfrm>
            <a:custGeom>
              <a:avLst/>
              <a:gdLst/>
              <a:ahLst/>
              <a:cxnLst/>
              <a:rect r="r" b="b" t="t" l="l"/>
              <a:pathLst>
                <a:path h="406400" w="1698658">
                  <a:moveTo>
                    <a:pt x="1495458" y="0"/>
                  </a:moveTo>
                  <a:cubicBezTo>
                    <a:pt x="1607682" y="0"/>
                    <a:pt x="1698658" y="90976"/>
                    <a:pt x="1698658" y="203200"/>
                  </a:cubicBezTo>
                  <a:cubicBezTo>
                    <a:pt x="1698658" y="315424"/>
                    <a:pt x="1607682" y="406400"/>
                    <a:pt x="149545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4521E"/>
            </a:solid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98658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6178436"/>
            <a:ext cx="3341691" cy="441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1"/>
              </a:lnSpc>
            </a:pPr>
            <a:r>
              <a:rPr lang="en-US" sz="296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Formule Essentielle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32813" y="7155898"/>
            <a:ext cx="4422375" cy="971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5"/>
              </a:lnSpc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Pour deux repas par jour, sur une semaine ou un mois complet.</a:t>
            </a: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755863" y="3527984"/>
            <a:ext cx="2776274" cy="277627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138" y="0"/>
                  </a:moveTo>
                  <a:lnTo>
                    <a:pt x="748662" y="0"/>
                  </a:lnTo>
                  <a:cubicBezTo>
                    <a:pt x="765673" y="0"/>
                    <a:pt x="781986" y="6757"/>
                    <a:pt x="794014" y="18786"/>
                  </a:cubicBezTo>
                  <a:cubicBezTo>
                    <a:pt x="806043" y="30814"/>
                    <a:pt x="812800" y="47127"/>
                    <a:pt x="812800" y="64138"/>
                  </a:cubicBezTo>
                  <a:lnTo>
                    <a:pt x="812800" y="748662"/>
                  </a:lnTo>
                  <a:cubicBezTo>
                    <a:pt x="812800" y="765673"/>
                    <a:pt x="806043" y="781986"/>
                    <a:pt x="794014" y="794014"/>
                  </a:cubicBezTo>
                  <a:cubicBezTo>
                    <a:pt x="781986" y="806043"/>
                    <a:pt x="765673" y="812800"/>
                    <a:pt x="748662" y="812800"/>
                  </a:cubicBezTo>
                  <a:lnTo>
                    <a:pt x="64138" y="812800"/>
                  </a:lnTo>
                  <a:cubicBezTo>
                    <a:pt x="47127" y="812800"/>
                    <a:pt x="30814" y="806043"/>
                    <a:pt x="18786" y="794014"/>
                  </a:cubicBezTo>
                  <a:cubicBezTo>
                    <a:pt x="6757" y="781986"/>
                    <a:pt x="0" y="765673"/>
                    <a:pt x="0" y="748662"/>
                  </a:cubicBezTo>
                  <a:lnTo>
                    <a:pt x="0" y="64138"/>
                  </a:lnTo>
                  <a:cubicBezTo>
                    <a:pt x="0" y="47127"/>
                    <a:pt x="6757" y="30814"/>
                    <a:pt x="18786" y="18786"/>
                  </a:cubicBezTo>
                  <a:cubicBezTo>
                    <a:pt x="30814" y="6757"/>
                    <a:pt x="47127" y="0"/>
                    <a:pt x="64138" y="0"/>
                  </a:cubicBezTo>
                  <a:close/>
                </a:path>
              </a:pathLst>
            </a:custGeom>
            <a:blipFill>
              <a:blip r:embed="rId3"/>
              <a:stretch>
                <a:fillRect l="-32831" t="0" r="-32831" b="0"/>
              </a:stretch>
            </a:blipFill>
          </p:spPr>
          <p:txBody>
            <a:bodyPr/>
            <a:p/>
          </p:txBody>
        </p:sp>
      </p:grpSp>
      <p:grpSp>
        <p:nvGrpSpPr>
          <p:cNvPr name="Group 15" id="15"/>
          <p:cNvGrpSpPr/>
          <p:nvPr/>
        </p:nvGrpSpPr>
        <p:grpSpPr>
          <a:xfrm rot="0">
            <a:off x="8363661" y="3336332"/>
            <a:ext cx="3793538" cy="799492"/>
            <a:chOff x="0" y="0"/>
            <a:chExt cx="1928342" cy="40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28342" cy="406400"/>
            </a:xfrm>
            <a:custGeom>
              <a:avLst/>
              <a:gdLst/>
              <a:ahLst/>
              <a:cxnLst/>
              <a:rect r="r" b="b" t="t" l="l"/>
              <a:pathLst>
                <a:path h="406400" w="1928342">
                  <a:moveTo>
                    <a:pt x="1725142" y="0"/>
                  </a:moveTo>
                  <a:cubicBezTo>
                    <a:pt x="1837366" y="0"/>
                    <a:pt x="1928342" y="90976"/>
                    <a:pt x="1928342" y="203200"/>
                  </a:cubicBezTo>
                  <a:cubicBezTo>
                    <a:pt x="1928342" y="315424"/>
                    <a:pt x="1837366" y="406400"/>
                    <a:pt x="172514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E7D40"/>
            </a:solidFill>
          </p:spPr>
          <p:txBody>
            <a:bodyPr/>
            <a:p/>
          </p:txBody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92834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363661" y="3537509"/>
            <a:ext cx="3793538" cy="441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1"/>
              </a:lnSpc>
            </a:pPr>
            <a:r>
              <a:rPr lang="en-US" sz="296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Formule Confort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34308" y="7145990"/>
            <a:ext cx="4422375" cy="971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5"/>
              </a:lnSpc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Pour une couverture complète (petit-déjeuner, déjeuner, dîner) sur la durée.</a:t>
            </a: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357359" y="3527984"/>
            <a:ext cx="2776274" cy="2776274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138" y="0"/>
                  </a:moveTo>
                  <a:lnTo>
                    <a:pt x="748662" y="0"/>
                  </a:lnTo>
                  <a:cubicBezTo>
                    <a:pt x="765673" y="0"/>
                    <a:pt x="781986" y="6757"/>
                    <a:pt x="794014" y="18786"/>
                  </a:cubicBezTo>
                  <a:cubicBezTo>
                    <a:pt x="806043" y="30814"/>
                    <a:pt x="812800" y="47127"/>
                    <a:pt x="812800" y="64138"/>
                  </a:cubicBezTo>
                  <a:lnTo>
                    <a:pt x="812800" y="748662"/>
                  </a:lnTo>
                  <a:cubicBezTo>
                    <a:pt x="812800" y="765673"/>
                    <a:pt x="806043" y="781986"/>
                    <a:pt x="794014" y="794014"/>
                  </a:cubicBezTo>
                  <a:cubicBezTo>
                    <a:pt x="781986" y="806043"/>
                    <a:pt x="765673" y="812800"/>
                    <a:pt x="748662" y="812800"/>
                  </a:cubicBezTo>
                  <a:lnTo>
                    <a:pt x="64138" y="812800"/>
                  </a:lnTo>
                  <a:cubicBezTo>
                    <a:pt x="47127" y="812800"/>
                    <a:pt x="30814" y="806043"/>
                    <a:pt x="18786" y="794014"/>
                  </a:cubicBezTo>
                  <a:cubicBezTo>
                    <a:pt x="6757" y="781986"/>
                    <a:pt x="0" y="765673"/>
                    <a:pt x="0" y="748662"/>
                  </a:cubicBezTo>
                  <a:lnTo>
                    <a:pt x="0" y="64138"/>
                  </a:lnTo>
                  <a:cubicBezTo>
                    <a:pt x="0" y="47127"/>
                    <a:pt x="6757" y="30814"/>
                    <a:pt x="18786" y="18786"/>
                  </a:cubicBezTo>
                  <a:cubicBezTo>
                    <a:pt x="30814" y="6757"/>
                    <a:pt x="47127" y="0"/>
                    <a:pt x="64138" y="0"/>
                  </a:cubicBezTo>
                  <a:close/>
                </a:path>
              </a:pathLst>
            </a:custGeom>
            <a:blipFill>
              <a:blip r:embed="rId4"/>
              <a:stretch>
                <a:fillRect l="-25000" t="0" r="-25000" b="0"/>
              </a:stretch>
            </a:blipFill>
          </p:spPr>
          <p:txBody>
            <a:bodyPr/>
            <a:p/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526008" y="4916120"/>
            <a:ext cx="3733292" cy="799492"/>
            <a:chOff x="0" y="0"/>
            <a:chExt cx="1897718" cy="406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97717" cy="406400"/>
            </a:xfrm>
            <a:custGeom>
              <a:avLst/>
              <a:gdLst/>
              <a:ahLst/>
              <a:cxnLst/>
              <a:rect r="r" b="b" t="t" l="l"/>
              <a:pathLst>
                <a:path h="406400" w="1897717">
                  <a:moveTo>
                    <a:pt x="1694517" y="0"/>
                  </a:moveTo>
                  <a:cubicBezTo>
                    <a:pt x="1806742" y="0"/>
                    <a:pt x="1897717" y="90976"/>
                    <a:pt x="1897717" y="203200"/>
                  </a:cubicBezTo>
                  <a:cubicBezTo>
                    <a:pt x="1897717" y="315424"/>
                    <a:pt x="1806742" y="406400"/>
                    <a:pt x="16945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A5C2A"/>
            </a:solidFill>
          </p:spPr>
          <p:txBody>
            <a:bodyPr/>
            <a:p/>
          </p:txBody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897718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3526008" y="5117296"/>
            <a:ext cx="3733292" cy="441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1"/>
              </a:lnSpc>
            </a:pPr>
            <a:r>
              <a:rPr lang="en-US" sz="296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Formule Complète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44553" y="8956164"/>
            <a:ext cx="2995903" cy="414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4"/>
              </a:lnSpc>
            </a:pPr>
            <a:r>
              <a:rPr lang="en-US" sz="2711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dès 15 000 XOF/sem.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646049" y="8956164"/>
            <a:ext cx="2995903" cy="414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4"/>
              </a:lnSpc>
            </a:pPr>
            <a:r>
              <a:rPr lang="en-US" sz="2711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dès 25 000 XOF/sem.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357359" y="8956164"/>
            <a:ext cx="2995903" cy="414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4"/>
              </a:lnSpc>
            </a:pPr>
            <a:r>
              <a:rPr lang="en-US" sz="2711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dès 40 000 XOF/sem.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381125"/>
            <a:ext cx="8844750" cy="1413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8"/>
              </a:lnSpc>
            </a:pPr>
            <a:r>
              <a:rPr lang="en-US" sz="4715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Pourquoi choisir Juna 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54947"/>
            <a:ext cx="3089481" cy="37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Juna ( junaeats.com )</a:t>
            </a: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/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745496" y="554947"/>
            <a:ext cx="251380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Pitch deck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3261369"/>
            <a:ext cx="5185201" cy="2878189"/>
            <a:chOff x="0" y="0"/>
            <a:chExt cx="1518053" cy="8426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18053" cy="842637"/>
            </a:xfrm>
            <a:custGeom>
              <a:avLst/>
              <a:gdLst/>
              <a:ahLst/>
              <a:cxnLst/>
              <a:rect r="r" b="b" t="t" l="l"/>
              <a:pathLst>
                <a:path h="842637" w="1518053">
                  <a:moveTo>
                    <a:pt x="34341" y="0"/>
                  </a:moveTo>
                  <a:lnTo>
                    <a:pt x="1483712" y="0"/>
                  </a:lnTo>
                  <a:cubicBezTo>
                    <a:pt x="1492820" y="0"/>
                    <a:pt x="1501555" y="3618"/>
                    <a:pt x="1507995" y="10058"/>
                  </a:cubicBezTo>
                  <a:cubicBezTo>
                    <a:pt x="1514435" y="16498"/>
                    <a:pt x="1518053" y="25233"/>
                    <a:pt x="1518053" y="34341"/>
                  </a:cubicBezTo>
                  <a:lnTo>
                    <a:pt x="1518053" y="808296"/>
                  </a:lnTo>
                  <a:cubicBezTo>
                    <a:pt x="1518053" y="817404"/>
                    <a:pt x="1514435" y="826139"/>
                    <a:pt x="1507995" y="832579"/>
                  </a:cubicBezTo>
                  <a:cubicBezTo>
                    <a:pt x="1501555" y="839019"/>
                    <a:pt x="1492820" y="842637"/>
                    <a:pt x="1483712" y="842637"/>
                  </a:cubicBezTo>
                  <a:lnTo>
                    <a:pt x="34341" y="842637"/>
                  </a:lnTo>
                  <a:cubicBezTo>
                    <a:pt x="25233" y="842637"/>
                    <a:pt x="16498" y="839019"/>
                    <a:pt x="10058" y="832579"/>
                  </a:cubicBezTo>
                  <a:cubicBezTo>
                    <a:pt x="3618" y="826139"/>
                    <a:pt x="0" y="817404"/>
                    <a:pt x="0" y="808296"/>
                  </a:cubicBezTo>
                  <a:lnTo>
                    <a:pt x="0" y="34341"/>
                  </a:lnTo>
                  <a:cubicBezTo>
                    <a:pt x="0" y="25233"/>
                    <a:pt x="3618" y="16498"/>
                    <a:pt x="10058" y="10058"/>
                  </a:cubicBezTo>
                  <a:cubicBezTo>
                    <a:pt x="16498" y="3618"/>
                    <a:pt x="25233" y="0"/>
                    <a:pt x="34341" y="0"/>
                  </a:cubicBezTo>
                  <a:close/>
                </a:path>
              </a:pathLst>
            </a:custGeom>
            <a:solidFill>
              <a:srgbClr val="2E7D40"/>
            </a:solidFill>
          </p:spPr>
          <p:txBody>
            <a:bodyPr/>
            <a:p/>
          </p:txBody>
        </p:sp>
      </p:grpSp>
      <p:sp>
        <p:nvSpPr>
          <p:cNvPr name="TextBox 7" id="7"/>
          <p:cNvSpPr txBox="true"/>
          <p:nvPr/>
        </p:nvSpPr>
        <p:spPr>
          <a:xfrm rot="0">
            <a:off x="1383338" y="4434531"/>
            <a:ext cx="4475926" cy="1286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Plus besoin de décider et de commander chaque jour : l’abonnement s’occupe de tout.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83338" y="3762909"/>
            <a:ext cx="4351094" cy="467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3004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Gain de temps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550755" y="3261369"/>
            <a:ext cx="5185201" cy="2878189"/>
            <a:chOff x="0" y="0"/>
            <a:chExt cx="1518053" cy="8426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18053" cy="842637"/>
            </a:xfrm>
            <a:custGeom>
              <a:avLst/>
              <a:gdLst/>
              <a:ahLst/>
              <a:cxnLst/>
              <a:rect r="r" b="b" t="t" l="l"/>
              <a:pathLst>
                <a:path h="842637" w="1518053">
                  <a:moveTo>
                    <a:pt x="34341" y="0"/>
                  </a:moveTo>
                  <a:lnTo>
                    <a:pt x="1483712" y="0"/>
                  </a:lnTo>
                  <a:cubicBezTo>
                    <a:pt x="1492820" y="0"/>
                    <a:pt x="1501555" y="3618"/>
                    <a:pt x="1507995" y="10058"/>
                  </a:cubicBezTo>
                  <a:cubicBezTo>
                    <a:pt x="1514435" y="16498"/>
                    <a:pt x="1518053" y="25233"/>
                    <a:pt x="1518053" y="34341"/>
                  </a:cubicBezTo>
                  <a:lnTo>
                    <a:pt x="1518053" y="808296"/>
                  </a:lnTo>
                  <a:cubicBezTo>
                    <a:pt x="1518053" y="817404"/>
                    <a:pt x="1514435" y="826139"/>
                    <a:pt x="1507995" y="832579"/>
                  </a:cubicBezTo>
                  <a:cubicBezTo>
                    <a:pt x="1501555" y="839019"/>
                    <a:pt x="1492820" y="842637"/>
                    <a:pt x="1483712" y="842637"/>
                  </a:cubicBezTo>
                  <a:lnTo>
                    <a:pt x="34341" y="842637"/>
                  </a:lnTo>
                  <a:cubicBezTo>
                    <a:pt x="25233" y="842637"/>
                    <a:pt x="16498" y="839019"/>
                    <a:pt x="10058" y="832579"/>
                  </a:cubicBezTo>
                  <a:cubicBezTo>
                    <a:pt x="3618" y="826139"/>
                    <a:pt x="0" y="817404"/>
                    <a:pt x="0" y="808296"/>
                  </a:cubicBezTo>
                  <a:lnTo>
                    <a:pt x="0" y="34341"/>
                  </a:lnTo>
                  <a:cubicBezTo>
                    <a:pt x="0" y="25233"/>
                    <a:pt x="3618" y="16498"/>
                    <a:pt x="10058" y="10058"/>
                  </a:cubicBezTo>
                  <a:cubicBezTo>
                    <a:pt x="16498" y="3618"/>
                    <a:pt x="25233" y="0"/>
                    <a:pt x="34341" y="0"/>
                  </a:cubicBezTo>
                  <a:close/>
                </a:path>
              </a:pathLst>
            </a:custGeom>
            <a:solidFill>
              <a:srgbClr val="1A5C2A"/>
            </a:solidFill>
          </p:spPr>
          <p:txBody>
            <a:bodyPr/>
            <a:p/>
          </p:txBody>
        </p:sp>
      </p:grpSp>
      <p:sp>
        <p:nvSpPr>
          <p:cNvPr name="TextBox 11" id="11"/>
          <p:cNvSpPr txBox="true"/>
          <p:nvPr/>
        </p:nvSpPr>
        <p:spPr>
          <a:xfrm rot="0">
            <a:off x="6906037" y="4476258"/>
            <a:ext cx="4475926" cy="1286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Les prestataires connaissent leur demande à l’avance et stabilisent leurs revenus.</a:t>
            </a:r>
          </a:p>
          <a:p>
            <a:pPr algn="l">
              <a:lnSpc>
                <a:spcPts val="2475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6905393" y="3762909"/>
            <a:ext cx="4351094" cy="467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3004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Revenus stabilisés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074099" y="3261369"/>
            <a:ext cx="5185201" cy="2878189"/>
            <a:chOff x="0" y="0"/>
            <a:chExt cx="1518053" cy="84263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18053" cy="842637"/>
            </a:xfrm>
            <a:custGeom>
              <a:avLst/>
              <a:gdLst/>
              <a:ahLst/>
              <a:cxnLst/>
              <a:rect r="r" b="b" t="t" l="l"/>
              <a:pathLst>
                <a:path h="842637" w="1518053">
                  <a:moveTo>
                    <a:pt x="34341" y="0"/>
                  </a:moveTo>
                  <a:lnTo>
                    <a:pt x="1483712" y="0"/>
                  </a:lnTo>
                  <a:cubicBezTo>
                    <a:pt x="1492820" y="0"/>
                    <a:pt x="1501555" y="3618"/>
                    <a:pt x="1507995" y="10058"/>
                  </a:cubicBezTo>
                  <a:cubicBezTo>
                    <a:pt x="1514435" y="16498"/>
                    <a:pt x="1518053" y="25233"/>
                    <a:pt x="1518053" y="34341"/>
                  </a:cubicBezTo>
                  <a:lnTo>
                    <a:pt x="1518053" y="808296"/>
                  </a:lnTo>
                  <a:cubicBezTo>
                    <a:pt x="1518053" y="817404"/>
                    <a:pt x="1514435" y="826139"/>
                    <a:pt x="1507995" y="832579"/>
                  </a:cubicBezTo>
                  <a:cubicBezTo>
                    <a:pt x="1501555" y="839019"/>
                    <a:pt x="1492820" y="842637"/>
                    <a:pt x="1483712" y="842637"/>
                  </a:cubicBezTo>
                  <a:lnTo>
                    <a:pt x="34341" y="842637"/>
                  </a:lnTo>
                  <a:cubicBezTo>
                    <a:pt x="25233" y="842637"/>
                    <a:pt x="16498" y="839019"/>
                    <a:pt x="10058" y="832579"/>
                  </a:cubicBezTo>
                  <a:cubicBezTo>
                    <a:pt x="3618" y="826139"/>
                    <a:pt x="0" y="817404"/>
                    <a:pt x="0" y="808296"/>
                  </a:cubicBezTo>
                  <a:lnTo>
                    <a:pt x="0" y="34341"/>
                  </a:lnTo>
                  <a:cubicBezTo>
                    <a:pt x="0" y="25233"/>
                    <a:pt x="3618" y="16498"/>
                    <a:pt x="10058" y="10058"/>
                  </a:cubicBezTo>
                  <a:cubicBezTo>
                    <a:pt x="16498" y="3618"/>
                    <a:pt x="25233" y="0"/>
                    <a:pt x="34341" y="0"/>
                  </a:cubicBezTo>
                  <a:close/>
                </a:path>
              </a:pathLst>
            </a:custGeom>
            <a:solidFill>
              <a:srgbClr val="F4521E"/>
            </a:solidFill>
          </p:spPr>
          <p:txBody>
            <a:bodyPr/>
            <a:p/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431282" y="4476258"/>
            <a:ext cx="4475926" cy="1286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Les achats de matières premières sont mieux calibrés grâce à une demande prévisible.</a:t>
            </a:r>
          </a:p>
          <a:p>
            <a:pPr algn="l">
              <a:lnSpc>
                <a:spcPts val="2475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2428736" y="3762909"/>
            <a:ext cx="4577017" cy="467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3004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Moins de gaspillage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28700" y="6396732"/>
            <a:ext cx="5185201" cy="2878189"/>
            <a:chOff x="0" y="0"/>
            <a:chExt cx="1518053" cy="84263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18053" cy="842637"/>
            </a:xfrm>
            <a:custGeom>
              <a:avLst/>
              <a:gdLst/>
              <a:ahLst/>
              <a:cxnLst/>
              <a:rect r="r" b="b" t="t" l="l"/>
              <a:pathLst>
                <a:path h="842637" w="1518053">
                  <a:moveTo>
                    <a:pt x="34341" y="0"/>
                  </a:moveTo>
                  <a:lnTo>
                    <a:pt x="1483712" y="0"/>
                  </a:lnTo>
                  <a:cubicBezTo>
                    <a:pt x="1492820" y="0"/>
                    <a:pt x="1501555" y="3618"/>
                    <a:pt x="1507995" y="10058"/>
                  </a:cubicBezTo>
                  <a:cubicBezTo>
                    <a:pt x="1514435" y="16498"/>
                    <a:pt x="1518053" y="25233"/>
                    <a:pt x="1518053" y="34341"/>
                  </a:cubicBezTo>
                  <a:lnTo>
                    <a:pt x="1518053" y="808296"/>
                  </a:lnTo>
                  <a:cubicBezTo>
                    <a:pt x="1518053" y="817404"/>
                    <a:pt x="1514435" y="826139"/>
                    <a:pt x="1507995" y="832579"/>
                  </a:cubicBezTo>
                  <a:cubicBezTo>
                    <a:pt x="1501555" y="839019"/>
                    <a:pt x="1492820" y="842637"/>
                    <a:pt x="1483712" y="842637"/>
                  </a:cubicBezTo>
                  <a:lnTo>
                    <a:pt x="34341" y="842637"/>
                  </a:lnTo>
                  <a:cubicBezTo>
                    <a:pt x="25233" y="842637"/>
                    <a:pt x="16498" y="839019"/>
                    <a:pt x="10058" y="832579"/>
                  </a:cubicBezTo>
                  <a:cubicBezTo>
                    <a:pt x="3618" y="826139"/>
                    <a:pt x="0" y="817404"/>
                    <a:pt x="0" y="808296"/>
                  </a:cubicBezTo>
                  <a:lnTo>
                    <a:pt x="0" y="34341"/>
                  </a:lnTo>
                  <a:cubicBezTo>
                    <a:pt x="0" y="25233"/>
                    <a:pt x="3618" y="16498"/>
                    <a:pt x="10058" y="10058"/>
                  </a:cubicBezTo>
                  <a:cubicBezTo>
                    <a:pt x="16498" y="3618"/>
                    <a:pt x="25233" y="0"/>
                    <a:pt x="34341" y="0"/>
                  </a:cubicBezTo>
                  <a:close/>
                </a:path>
              </a:pathLst>
            </a:custGeom>
            <a:solidFill>
              <a:srgbClr val="F4521E"/>
            </a:solidFill>
          </p:spPr>
          <p:txBody>
            <a:bodyPr/>
            <a:p/>
          </p:txBody>
        </p:sp>
      </p:grpSp>
      <p:sp>
        <p:nvSpPr>
          <p:cNvPr name="TextBox 19" id="19"/>
          <p:cNvSpPr txBox="true"/>
          <p:nvPr/>
        </p:nvSpPr>
        <p:spPr>
          <a:xfrm rot="0">
            <a:off x="1383338" y="7569894"/>
            <a:ext cx="4475926" cy="1286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 paiement Mobile Money rend la souscription simple et accessible à tous.</a:t>
            </a:r>
          </a:p>
          <a:p>
            <a:pPr algn="l">
              <a:lnSpc>
                <a:spcPts val="2475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383338" y="6898273"/>
            <a:ext cx="4351094" cy="467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3004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Paiement simplifié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550755" y="6396732"/>
            <a:ext cx="5185201" cy="2878189"/>
            <a:chOff x="0" y="0"/>
            <a:chExt cx="1518053" cy="84263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18053" cy="842637"/>
            </a:xfrm>
            <a:custGeom>
              <a:avLst/>
              <a:gdLst/>
              <a:ahLst/>
              <a:cxnLst/>
              <a:rect r="r" b="b" t="t" l="l"/>
              <a:pathLst>
                <a:path h="842637" w="1518053">
                  <a:moveTo>
                    <a:pt x="34341" y="0"/>
                  </a:moveTo>
                  <a:lnTo>
                    <a:pt x="1483712" y="0"/>
                  </a:lnTo>
                  <a:cubicBezTo>
                    <a:pt x="1492820" y="0"/>
                    <a:pt x="1501555" y="3618"/>
                    <a:pt x="1507995" y="10058"/>
                  </a:cubicBezTo>
                  <a:cubicBezTo>
                    <a:pt x="1514435" y="16498"/>
                    <a:pt x="1518053" y="25233"/>
                    <a:pt x="1518053" y="34341"/>
                  </a:cubicBezTo>
                  <a:lnTo>
                    <a:pt x="1518053" y="808296"/>
                  </a:lnTo>
                  <a:cubicBezTo>
                    <a:pt x="1518053" y="817404"/>
                    <a:pt x="1514435" y="826139"/>
                    <a:pt x="1507995" y="832579"/>
                  </a:cubicBezTo>
                  <a:cubicBezTo>
                    <a:pt x="1501555" y="839019"/>
                    <a:pt x="1492820" y="842637"/>
                    <a:pt x="1483712" y="842637"/>
                  </a:cubicBezTo>
                  <a:lnTo>
                    <a:pt x="34341" y="842637"/>
                  </a:lnTo>
                  <a:cubicBezTo>
                    <a:pt x="25233" y="842637"/>
                    <a:pt x="16498" y="839019"/>
                    <a:pt x="10058" y="832579"/>
                  </a:cubicBezTo>
                  <a:cubicBezTo>
                    <a:pt x="3618" y="826139"/>
                    <a:pt x="0" y="817404"/>
                    <a:pt x="0" y="808296"/>
                  </a:cubicBezTo>
                  <a:lnTo>
                    <a:pt x="0" y="34341"/>
                  </a:lnTo>
                  <a:cubicBezTo>
                    <a:pt x="0" y="25233"/>
                    <a:pt x="3618" y="16498"/>
                    <a:pt x="10058" y="10058"/>
                  </a:cubicBezTo>
                  <a:cubicBezTo>
                    <a:pt x="16498" y="3618"/>
                    <a:pt x="25233" y="0"/>
                    <a:pt x="34341" y="0"/>
                  </a:cubicBezTo>
                  <a:close/>
                </a:path>
              </a:pathLst>
            </a:custGeom>
            <a:solidFill>
              <a:srgbClr val="2E7D40"/>
            </a:solidFill>
          </p:spPr>
          <p:txBody>
            <a:bodyPr/>
            <a:p/>
          </p:txBody>
        </p:sp>
      </p:grpSp>
      <p:sp>
        <p:nvSpPr>
          <p:cNvPr name="TextBox 23" id="23"/>
          <p:cNvSpPr txBox="true"/>
          <p:nvPr/>
        </p:nvSpPr>
        <p:spPr>
          <a:xfrm rot="0">
            <a:off x="6906037" y="7611622"/>
            <a:ext cx="4475926" cy="1286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Chaque utilisateur choisit librement entre livraison à domicile et retrait sur place.</a:t>
            </a:r>
          </a:p>
          <a:p>
            <a:pPr algn="l">
              <a:lnSpc>
                <a:spcPts val="2475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6905393" y="6898273"/>
            <a:ext cx="4476570" cy="467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3004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Flexibilité de réception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074099" y="6396732"/>
            <a:ext cx="5185201" cy="2878189"/>
            <a:chOff x="0" y="0"/>
            <a:chExt cx="1518053" cy="84263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518053" cy="842637"/>
            </a:xfrm>
            <a:custGeom>
              <a:avLst/>
              <a:gdLst/>
              <a:ahLst/>
              <a:cxnLst/>
              <a:rect r="r" b="b" t="t" l="l"/>
              <a:pathLst>
                <a:path h="842637" w="1518053">
                  <a:moveTo>
                    <a:pt x="34341" y="0"/>
                  </a:moveTo>
                  <a:lnTo>
                    <a:pt x="1483712" y="0"/>
                  </a:lnTo>
                  <a:cubicBezTo>
                    <a:pt x="1492820" y="0"/>
                    <a:pt x="1501555" y="3618"/>
                    <a:pt x="1507995" y="10058"/>
                  </a:cubicBezTo>
                  <a:cubicBezTo>
                    <a:pt x="1514435" y="16498"/>
                    <a:pt x="1518053" y="25233"/>
                    <a:pt x="1518053" y="34341"/>
                  </a:cubicBezTo>
                  <a:lnTo>
                    <a:pt x="1518053" y="808296"/>
                  </a:lnTo>
                  <a:cubicBezTo>
                    <a:pt x="1518053" y="817404"/>
                    <a:pt x="1514435" y="826139"/>
                    <a:pt x="1507995" y="832579"/>
                  </a:cubicBezTo>
                  <a:cubicBezTo>
                    <a:pt x="1501555" y="839019"/>
                    <a:pt x="1492820" y="842637"/>
                    <a:pt x="1483712" y="842637"/>
                  </a:cubicBezTo>
                  <a:lnTo>
                    <a:pt x="34341" y="842637"/>
                  </a:lnTo>
                  <a:cubicBezTo>
                    <a:pt x="25233" y="842637"/>
                    <a:pt x="16498" y="839019"/>
                    <a:pt x="10058" y="832579"/>
                  </a:cubicBezTo>
                  <a:cubicBezTo>
                    <a:pt x="3618" y="826139"/>
                    <a:pt x="0" y="817404"/>
                    <a:pt x="0" y="808296"/>
                  </a:cubicBezTo>
                  <a:lnTo>
                    <a:pt x="0" y="34341"/>
                  </a:lnTo>
                  <a:cubicBezTo>
                    <a:pt x="0" y="25233"/>
                    <a:pt x="3618" y="16498"/>
                    <a:pt x="10058" y="10058"/>
                  </a:cubicBezTo>
                  <a:cubicBezTo>
                    <a:pt x="16498" y="3618"/>
                    <a:pt x="25233" y="0"/>
                    <a:pt x="34341" y="0"/>
                  </a:cubicBezTo>
                  <a:close/>
                </a:path>
              </a:pathLst>
            </a:custGeom>
            <a:solidFill>
              <a:srgbClr val="1A5C2A"/>
            </a:solidFill>
          </p:spPr>
          <p:txBody>
            <a:bodyPr/>
            <a:p/>
          </p:txBody>
        </p:sp>
      </p:grpSp>
      <p:sp>
        <p:nvSpPr>
          <p:cNvPr name="TextBox 27" id="27"/>
          <p:cNvSpPr txBox="true"/>
          <p:nvPr/>
        </p:nvSpPr>
        <p:spPr>
          <a:xfrm rot="0">
            <a:off x="12431282" y="7611622"/>
            <a:ext cx="4475926" cy="1600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Juna a été pensée pour soutenir les acteurs locaux de l’alimentation, pas pour les remplacer.</a:t>
            </a:r>
          </a:p>
          <a:p>
            <a:pPr algn="l">
              <a:lnSpc>
                <a:spcPts val="2475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2428736" y="6898273"/>
            <a:ext cx="4577017" cy="467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3004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Au service des acteurs locaux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95339" y="1592122"/>
            <a:ext cx="10697322" cy="737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8"/>
              </a:lnSpc>
            </a:pPr>
            <a:r>
              <a:rPr lang="en-US" sz="4715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Merci pour votre attention 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54947"/>
            <a:ext cx="3049721" cy="37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Juna ( junaeats.com )</a:t>
            </a: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/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745496" y="554947"/>
            <a:ext cx="251380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Pitch deck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894230" y="3634253"/>
            <a:ext cx="12499541" cy="11658662"/>
          </a:xfrm>
          <a:custGeom>
            <a:avLst/>
            <a:gdLst/>
            <a:ahLst/>
            <a:cxnLst/>
            <a:rect r="r" b="b" t="t" l="l"/>
            <a:pathLst>
              <a:path h="11658662" w="12499541">
                <a:moveTo>
                  <a:pt x="0" y="0"/>
                </a:moveTo>
                <a:lnTo>
                  <a:pt x="12499540" y="0"/>
                </a:lnTo>
                <a:lnTo>
                  <a:pt x="12499540" y="11658662"/>
                </a:lnTo>
                <a:lnTo>
                  <a:pt x="0" y="11658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6171170" y="3205145"/>
            <a:ext cx="5945659" cy="616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6"/>
              </a:lnSpc>
            </a:pPr>
            <a:r>
              <a:rPr lang="en-US" sz="3476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contact@junaeats.com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757663" y="2424224"/>
            <a:ext cx="10697322" cy="596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4"/>
              </a:lnSpc>
            </a:pPr>
            <a:r>
              <a:rPr lang="en-US" sz="39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 reste en contact ?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068718" y="4101090"/>
            <a:ext cx="2776274" cy="277627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138" y="0"/>
                  </a:moveTo>
                  <a:lnTo>
                    <a:pt x="748662" y="0"/>
                  </a:lnTo>
                  <a:cubicBezTo>
                    <a:pt x="765673" y="0"/>
                    <a:pt x="781986" y="6757"/>
                    <a:pt x="794014" y="18786"/>
                  </a:cubicBezTo>
                  <a:cubicBezTo>
                    <a:pt x="806043" y="30814"/>
                    <a:pt x="812800" y="47127"/>
                    <a:pt x="812800" y="64138"/>
                  </a:cubicBezTo>
                  <a:lnTo>
                    <a:pt x="812800" y="748662"/>
                  </a:lnTo>
                  <a:cubicBezTo>
                    <a:pt x="812800" y="765673"/>
                    <a:pt x="806043" y="781986"/>
                    <a:pt x="794014" y="794014"/>
                  </a:cubicBezTo>
                  <a:cubicBezTo>
                    <a:pt x="781986" y="806043"/>
                    <a:pt x="765673" y="812800"/>
                    <a:pt x="748662" y="812800"/>
                  </a:cubicBezTo>
                  <a:lnTo>
                    <a:pt x="64138" y="812800"/>
                  </a:lnTo>
                  <a:cubicBezTo>
                    <a:pt x="47127" y="812800"/>
                    <a:pt x="30814" y="806043"/>
                    <a:pt x="18786" y="794014"/>
                  </a:cubicBezTo>
                  <a:cubicBezTo>
                    <a:pt x="6757" y="781986"/>
                    <a:pt x="0" y="765673"/>
                    <a:pt x="0" y="748662"/>
                  </a:cubicBezTo>
                  <a:lnTo>
                    <a:pt x="0" y="64138"/>
                  </a:lnTo>
                  <a:cubicBezTo>
                    <a:pt x="0" y="47127"/>
                    <a:pt x="6757" y="30814"/>
                    <a:pt x="18786" y="18786"/>
                  </a:cubicBezTo>
                  <a:cubicBezTo>
                    <a:pt x="30814" y="6757"/>
                    <a:pt x="47127" y="0"/>
                    <a:pt x="64138" y="0"/>
                  </a:cubicBezTo>
                  <a:close/>
                </a:path>
              </a:pathLst>
            </a:custGeom>
            <a:blipFill>
              <a:blip r:embed="rId4"/>
              <a:stretch>
                <a:fillRect l="-32831" t="0" r="-32831" b="0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4253731" y="7252119"/>
            <a:ext cx="2776274" cy="277627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138" y="0"/>
                  </a:moveTo>
                  <a:lnTo>
                    <a:pt x="748662" y="0"/>
                  </a:lnTo>
                  <a:cubicBezTo>
                    <a:pt x="765673" y="0"/>
                    <a:pt x="781986" y="6757"/>
                    <a:pt x="794014" y="18786"/>
                  </a:cubicBezTo>
                  <a:cubicBezTo>
                    <a:pt x="806043" y="30814"/>
                    <a:pt x="812800" y="47127"/>
                    <a:pt x="812800" y="64138"/>
                  </a:cubicBezTo>
                  <a:lnTo>
                    <a:pt x="812800" y="748662"/>
                  </a:lnTo>
                  <a:cubicBezTo>
                    <a:pt x="812800" y="765673"/>
                    <a:pt x="806043" y="781986"/>
                    <a:pt x="794014" y="794014"/>
                  </a:cubicBezTo>
                  <a:cubicBezTo>
                    <a:pt x="781986" y="806043"/>
                    <a:pt x="765673" y="812800"/>
                    <a:pt x="748662" y="812800"/>
                  </a:cubicBezTo>
                  <a:lnTo>
                    <a:pt x="64138" y="812800"/>
                  </a:lnTo>
                  <a:cubicBezTo>
                    <a:pt x="47127" y="812800"/>
                    <a:pt x="30814" y="806043"/>
                    <a:pt x="18786" y="794014"/>
                  </a:cubicBezTo>
                  <a:cubicBezTo>
                    <a:pt x="6757" y="781986"/>
                    <a:pt x="0" y="765673"/>
                    <a:pt x="0" y="748662"/>
                  </a:cubicBezTo>
                  <a:lnTo>
                    <a:pt x="0" y="64138"/>
                  </a:lnTo>
                  <a:cubicBezTo>
                    <a:pt x="0" y="47127"/>
                    <a:pt x="6757" y="30814"/>
                    <a:pt x="18786" y="18786"/>
                  </a:cubicBezTo>
                  <a:cubicBezTo>
                    <a:pt x="30814" y="6757"/>
                    <a:pt x="47127" y="0"/>
                    <a:pt x="64138" y="0"/>
                  </a:cubicBezTo>
                  <a:close/>
                </a:path>
              </a:pathLst>
            </a:custGeom>
            <a:blipFill>
              <a:blip r:embed="rId5"/>
              <a:stretch>
                <a:fillRect l="-10850" t="0" r="-39149" b="0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6788262" y="4442718"/>
            <a:ext cx="4711475" cy="9322463"/>
            <a:chOff x="0" y="0"/>
            <a:chExt cx="2620010" cy="5184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/>
          </p:txBody>
        </p:sp>
        <p:sp>
          <p:nvSpPr>
            <p:cNvPr name="Freeform 14" id="1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11"/>
              <a:stretch>
                <a:fillRect l="-22234" t="0" r="-22234" b="0"/>
              </a:stretch>
            </a:blipFill>
          </p:spPr>
          <p:txBody>
            <a:bodyPr/>
            <a:p/>
          </p:txBody>
        </p:sp>
        <p:sp>
          <p:nvSpPr>
            <p:cNvPr name="Freeform 15" id="1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p/>
          </p:txBody>
        </p:sp>
        <p:sp>
          <p:nvSpPr>
            <p:cNvPr name="Freeform 16" id="1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p/>
          </p:txBody>
        </p:sp>
        <p:sp>
          <p:nvSpPr>
            <p:cNvPr name="Freeform 17" id="1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p/>
          </p:txBody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p/>
          </p:txBody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p/>
          </p:txBody>
        </p:sp>
        <p:sp>
          <p:nvSpPr>
            <p:cNvPr name="Freeform 20" id="2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p/>
          </p:txBody>
        </p:sp>
        <p:sp>
          <p:nvSpPr>
            <p:cNvPr name="Freeform 21" id="2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p/>
          </p:txBody>
        </p:sp>
      </p:grpSp>
      <p:grpSp>
        <p:nvGrpSpPr>
          <p:cNvPr name="Group 22" id="22"/>
          <p:cNvGrpSpPr/>
          <p:nvPr/>
        </p:nvGrpSpPr>
        <p:grpSpPr>
          <a:xfrm rot="0">
            <a:off x="3865683" y="5489227"/>
            <a:ext cx="3552372" cy="799492"/>
            <a:chOff x="0" y="0"/>
            <a:chExt cx="1805752" cy="406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05752" cy="406400"/>
            </a:xfrm>
            <a:custGeom>
              <a:avLst/>
              <a:gdLst/>
              <a:ahLst/>
              <a:cxnLst/>
              <a:rect r="r" b="b" t="t" l="l"/>
              <a:pathLst>
                <a:path h="406400" w="1805752">
                  <a:moveTo>
                    <a:pt x="1602552" y="0"/>
                  </a:moveTo>
                  <a:cubicBezTo>
                    <a:pt x="1714776" y="0"/>
                    <a:pt x="1805752" y="90976"/>
                    <a:pt x="1805752" y="203200"/>
                  </a:cubicBezTo>
                  <a:cubicBezTo>
                    <a:pt x="1805752" y="315424"/>
                    <a:pt x="1714776" y="406400"/>
                    <a:pt x="1602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4521E"/>
            </a:solidFill>
          </p:spPr>
          <p:txBody>
            <a:bodyPr/>
            <a:p/>
          </p:txBody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8057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22709" y="4292633"/>
            <a:ext cx="2776274" cy="2776274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138" y="0"/>
                  </a:moveTo>
                  <a:lnTo>
                    <a:pt x="748662" y="0"/>
                  </a:lnTo>
                  <a:cubicBezTo>
                    <a:pt x="765673" y="0"/>
                    <a:pt x="781986" y="6757"/>
                    <a:pt x="794014" y="18786"/>
                  </a:cubicBezTo>
                  <a:cubicBezTo>
                    <a:pt x="806043" y="30814"/>
                    <a:pt x="812800" y="47127"/>
                    <a:pt x="812800" y="64138"/>
                  </a:cubicBezTo>
                  <a:lnTo>
                    <a:pt x="812800" y="748662"/>
                  </a:lnTo>
                  <a:cubicBezTo>
                    <a:pt x="812800" y="765673"/>
                    <a:pt x="806043" y="781986"/>
                    <a:pt x="794014" y="794014"/>
                  </a:cubicBezTo>
                  <a:cubicBezTo>
                    <a:pt x="781986" y="806043"/>
                    <a:pt x="765673" y="812800"/>
                    <a:pt x="748662" y="812800"/>
                  </a:cubicBezTo>
                  <a:lnTo>
                    <a:pt x="64138" y="812800"/>
                  </a:lnTo>
                  <a:cubicBezTo>
                    <a:pt x="47127" y="812800"/>
                    <a:pt x="30814" y="806043"/>
                    <a:pt x="18786" y="794014"/>
                  </a:cubicBezTo>
                  <a:cubicBezTo>
                    <a:pt x="6757" y="781986"/>
                    <a:pt x="0" y="765673"/>
                    <a:pt x="0" y="748662"/>
                  </a:cubicBezTo>
                  <a:lnTo>
                    <a:pt x="0" y="64138"/>
                  </a:lnTo>
                  <a:cubicBezTo>
                    <a:pt x="0" y="47127"/>
                    <a:pt x="6757" y="30814"/>
                    <a:pt x="18786" y="18786"/>
                  </a:cubicBezTo>
                  <a:cubicBezTo>
                    <a:pt x="30814" y="6757"/>
                    <a:pt x="47127" y="0"/>
                    <a:pt x="64138" y="0"/>
                  </a:cubicBezTo>
                  <a:close/>
                </a:path>
              </a:pathLst>
            </a:custGeom>
            <a:blipFill>
              <a:blip r:embed="rId7"/>
              <a:stretch>
                <a:fillRect l="-25046" t="0" r="-25046" b="0"/>
              </a:stretch>
            </a:blip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2822300" y="3947387"/>
            <a:ext cx="1256120" cy="1256120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72574" y="0"/>
                  </a:moveTo>
                  <a:lnTo>
                    <a:pt x="640226" y="0"/>
                  </a:lnTo>
                  <a:cubicBezTo>
                    <a:pt x="735536" y="0"/>
                    <a:pt x="812800" y="77264"/>
                    <a:pt x="812800" y="172574"/>
                  </a:cubicBezTo>
                  <a:lnTo>
                    <a:pt x="812800" y="640226"/>
                  </a:lnTo>
                  <a:cubicBezTo>
                    <a:pt x="812800" y="735536"/>
                    <a:pt x="735536" y="812800"/>
                    <a:pt x="640226" y="812800"/>
                  </a:cubicBezTo>
                  <a:lnTo>
                    <a:pt x="172574" y="812800"/>
                  </a:lnTo>
                  <a:cubicBezTo>
                    <a:pt x="77264" y="812800"/>
                    <a:pt x="0" y="735536"/>
                    <a:pt x="0" y="640226"/>
                  </a:cubicBezTo>
                  <a:lnTo>
                    <a:pt x="0" y="172574"/>
                  </a:lnTo>
                  <a:cubicBezTo>
                    <a:pt x="0" y="77264"/>
                    <a:pt x="77264" y="0"/>
                    <a:pt x="172574" y="0"/>
                  </a:cubicBezTo>
                  <a:close/>
                </a:path>
              </a:pathLst>
            </a:custGeom>
            <a:solidFill>
              <a:srgbClr val="1A5C2A"/>
            </a:solidFill>
          </p:spPr>
          <p:txBody>
            <a:bodyPr/>
            <a:p/>
          </p:txBody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2270986" y="8641744"/>
            <a:ext cx="3189394" cy="616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6"/>
              </a:lnSpc>
            </a:pPr>
            <a:r>
              <a:rPr lang="en-US" sz="3476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 2026  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4502264" y="5710587"/>
            <a:ext cx="2279209" cy="356771"/>
            <a:chOff x="0" y="0"/>
            <a:chExt cx="3038946" cy="475695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499090" cy="475695"/>
              <a:chOff x="0" y="0"/>
              <a:chExt cx="812800" cy="7747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/>
            </p:txBody>
          </p:sp>
          <p:sp>
            <p:nvSpPr>
              <p:cNvPr name="TextBox 34" id="34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624924" y="0"/>
              <a:ext cx="499090" cy="475695"/>
              <a:chOff x="0" y="0"/>
              <a:chExt cx="812800" cy="7747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/>
            </p:txBody>
          </p:sp>
          <p:sp>
            <p:nvSpPr>
              <p:cNvPr name="TextBox 37" id="37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1288842" y="0"/>
              <a:ext cx="499090" cy="475695"/>
              <a:chOff x="0" y="0"/>
              <a:chExt cx="812800" cy="7747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/>
            </p:txBody>
          </p:sp>
          <p:sp>
            <p:nvSpPr>
              <p:cNvPr name="TextBox 40" id="40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1913766" y="0"/>
              <a:ext cx="499090" cy="475695"/>
              <a:chOff x="0" y="0"/>
              <a:chExt cx="812800" cy="7747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/>
            </p:txBody>
          </p:sp>
          <p:sp>
            <p:nvSpPr>
              <p:cNvPr name="TextBox 43" id="43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2539856" y="0"/>
              <a:ext cx="499090" cy="475695"/>
              <a:chOff x="0" y="0"/>
              <a:chExt cx="812800" cy="7747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/>
            </p:txBody>
          </p:sp>
          <p:sp>
            <p:nvSpPr>
              <p:cNvPr name="TextBox 46" id="46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47" id="47"/>
          <p:cNvSpPr/>
          <p:nvPr/>
        </p:nvSpPr>
        <p:spPr>
          <a:xfrm flipH="false" flipV="false" rot="0">
            <a:off x="2970659" y="4095746"/>
            <a:ext cx="959403" cy="959403"/>
          </a:xfrm>
          <a:custGeom>
            <a:avLst/>
            <a:gdLst/>
            <a:ahLst/>
            <a:cxnLst/>
            <a:rect r="r" b="b" t="t" l="l"/>
            <a:pathLst>
              <a:path h="959403" w="959403">
                <a:moveTo>
                  <a:pt x="0" y="0"/>
                </a:moveTo>
                <a:lnTo>
                  <a:pt x="959403" y="0"/>
                </a:lnTo>
                <a:lnTo>
                  <a:pt x="959403" y="959403"/>
                </a:lnTo>
                <a:lnTo>
                  <a:pt x="0" y="9594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48" id="48"/>
          <p:cNvGrpSpPr/>
          <p:nvPr/>
        </p:nvGrpSpPr>
        <p:grpSpPr>
          <a:xfrm rot="0">
            <a:off x="14492661" y="7068907"/>
            <a:ext cx="2776274" cy="2776274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138" y="0"/>
                  </a:moveTo>
                  <a:lnTo>
                    <a:pt x="748662" y="0"/>
                  </a:lnTo>
                  <a:cubicBezTo>
                    <a:pt x="765673" y="0"/>
                    <a:pt x="781986" y="6757"/>
                    <a:pt x="794014" y="18786"/>
                  </a:cubicBezTo>
                  <a:cubicBezTo>
                    <a:pt x="806043" y="30814"/>
                    <a:pt x="812800" y="47127"/>
                    <a:pt x="812800" y="64138"/>
                  </a:cubicBezTo>
                  <a:lnTo>
                    <a:pt x="812800" y="748662"/>
                  </a:lnTo>
                  <a:cubicBezTo>
                    <a:pt x="812800" y="765673"/>
                    <a:pt x="806043" y="781986"/>
                    <a:pt x="794014" y="794014"/>
                  </a:cubicBezTo>
                  <a:cubicBezTo>
                    <a:pt x="781986" y="806043"/>
                    <a:pt x="765673" y="812800"/>
                    <a:pt x="748662" y="812800"/>
                  </a:cubicBezTo>
                  <a:lnTo>
                    <a:pt x="64138" y="812800"/>
                  </a:lnTo>
                  <a:cubicBezTo>
                    <a:pt x="47127" y="812800"/>
                    <a:pt x="30814" y="806043"/>
                    <a:pt x="18786" y="794014"/>
                  </a:cubicBezTo>
                  <a:cubicBezTo>
                    <a:pt x="6757" y="781986"/>
                    <a:pt x="0" y="765673"/>
                    <a:pt x="0" y="748662"/>
                  </a:cubicBezTo>
                  <a:lnTo>
                    <a:pt x="0" y="64138"/>
                  </a:lnTo>
                  <a:cubicBezTo>
                    <a:pt x="0" y="47127"/>
                    <a:pt x="6757" y="30814"/>
                    <a:pt x="18786" y="18786"/>
                  </a:cubicBezTo>
                  <a:cubicBezTo>
                    <a:pt x="30814" y="6757"/>
                    <a:pt x="47127" y="0"/>
                    <a:pt x="64138" y="0"/>
                  </a:cubicBezTo>
                  <a:close/>
                </a:path>
              </a:pathLst>
            </a:custGeom>
            <a:blipFill>
              <a:blip r:embed="rId10"/>
              <a:stretch>
                <a:fillRect l="-24955" t="-33468" r="-75247" b="0"/>
              </a:stretch>
            </a:blipFill>
          </p:spPr>
          <p:txBody>
            <a:bodyPr/>
            <a:p/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006138" y="7816927"/>
            <a:ext cx="3996260" cy="1646657"/>
            <a:chOff x="0" y="0"/>
            <a:chExt cx="1169971" cy="48208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69971" cy="482086"/>
            </a:xfrm>
            <a:custGeom>
              <a:avLst/>
              <a:gdLst/>
              <a:ahLst/>
              <a:cxnLst/>
              <a:rect r="r" b="b" t="t" l="l"/>
              <a:pathLst>
                <a:path h="482086" w="1169971">
                  <a:moveTo>
                    <a:pt x="44558" y="0"/>
                  </a:moveTo>
                  <a:lnTo>
                    <a:pt x="1125414" y="0"/>
                  </a:lnTo>
                  <a:cubicBezTo>
                    <a:pt x="1137231" y="0"/>
                    <a:pt x="1148564" y="4694"/>
                    <a:pt x="1156921" y="13051"/>
                  </a:cubicBezTo>
                  <a:cubicBezTo>
                    <a:pt x="1165277" y="21407"/>
                    <a:pt x="1169971" y="32740"/>
                    <a:pt x="1169971" y="44558"/>
                  </a:cubicBezTo>
                  <a:lnTo>
                    <a:pt x="1169971" y="437528"/>
                  </a:lnTo>
                  <a:cubicBezTo>
                    <a:pt x="1169971" y="449346"/>
                    <a:pt x="1165277" y="460679"/>
                    <a:pt x="1156921" y="469035"/>
                  </a:cubicBezTo>
                  <a:cubicBezTo>
                    <a:pt x="1148564" y="477391"/>
                    <a:pt x="1137231" y="482086"/>
                    <a:pt x="1125414" y="482086"/>
                  </a:cubicBezTo>
                  <a:lnTo>
                    <a:pt x="44558" y="482086"/>
                  </a:lnTo>
                  <a:cubicBezTo>
                    <a:pt x="32740" y="482086"/>
                    <a:pt x="21407" y="477391"/>
                    <a:pt x="13051" y="469035"/>
                  </a:cubicBezTo>
                  <a:cubicBezTo>
                    <a:pt x="4694" y="460679"/>
                    <a:pt x="0" y="449346"/>
                    <a:pt x="0" y="437528"/>
                  </a:cubicBezTo>
                  <a:lnTo>
                    <a:pt x="0" y="44558"/>
                  </a:lnTo>
                  <a:cubicBezTo>
                    <a:pt x="0" y="32740"/>
                    <a:pt x="4694" y="21407"/>
                    <a:pt x="13051" y="13051"/>
                  </a:cubicBezTo>
                  <a:cubicBezTo>
                    <a:pt x="21407" y="4694"/>
                    <a:pt x="32740" y="0"/>
                    <a:pt x="44558" y="0"/>
                  </a:cubicBezTo>
                  <a:close/>
                </a:path>
              </a:pathLst>
            </a:custGeom>
            <a:solidFill>
              <a:srgbClr val="2E7D40"/>
            </a:solidFill>
          </p:spPr>
          <p:txBody>
            <a:bodyPr/>
            <a:p/>
          </p:txBody>
        </p:sp>
      </p:grpSp>
      <p:sp>
        <p:nvSpPr>
          <p:cNvPr name="TextBox 52" id="52"/>
          <p:cNvSpPr txBox="true"/>
          <p:nvPr/>
        </p:nvSpPr>
        <p:spPr>
          <a:xfrm rot="0">
            <a:off x="12324578" y="8573323"/>
            <a:ext cx="3385466" cy="530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8"/>
              </a:lnSpc>
            </a:pPr>
            <a:r>
              <a:rPr lang="en-US" sz="183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Votre solution d’abonnement repas</a:t>
            </a:r>
            <a:r>
              <a:rPr lang="en-US" sz="183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/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324578" y="8127793"/>
            <a:ext cx="3372423" cy="445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973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Juna</a:t>
            </a:r>
            <a:r>
              <a:rPr lang="en-US" sz="2973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DAHMYIbU3fY</dc:identifier>
  <dcterms:modified xsi:type="dcterms:W3CDTF">2011-08-01T06:04:30Z</dcterms:modified>
  <cp:revision>1</cp:revision>
  <dc:title>Présentation produit application moderne coloré</dc:title>
</cp:coreProperties>
</file>